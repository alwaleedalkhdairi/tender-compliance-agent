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Weighted score</c:v>
          </c:tx>
          <c:spPr>
            <a:solidFill>
              <a:srgbClr val="3D8DFF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E07A3F"/>
              </a:solidFill>
            </c:spPr>
            <c:extLst>
              <c:ext xmlns:c16="http://schemas.microsoft.com/office/drawing/2014/chart" uri="{C3380CC4-5D6E-409C-BE32-E72D297353CC}">
                <c16:uniqueId val="{00000001-E667-44BD-BCB4-05C41320B44B}"/>
              </c:ext>
            </c:extLst>
          </c:dPt>
          <c:dPt>
            <c:idx val="1"/>
            <c:invertIfNegative val="0"/>
            <c:bubble3D val="0"/>
            <c:spPr>
              <a:solidFill>
                <a:srgbClr val="65A97B"/>
              </a:solidFill>
            </c:spPr>
            <c:extLst>
              <c:ext xmlns:c16="http://schemas.microsoft.com/office/drawing/2014/chart" uri="{C3380CC4-5D6E-409C-BE32-E72D297353CC}">
                <c16:uniqueId val="{00000003-E667-44BD-BCB4-05C41320B44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667-44BD-BCB4-05C41320B44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 b="1">
                    <a:solidFill>
                      <a:srgbClr val="101828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BetaGrid Solutions</c:v>
              </c:pt>
              <c:pt idx="1">
                <c:v>GammaWave Technologies</c:v>
              </c:pt>
              <c:pt idx="2">
                <c:v>AlphaTech Networks</c:v>
              </c:pt>
            </c:strLit>
          </c:cat>
          <c:val>
            <c:numLit>
              <c:formatCode>General</c:formatCode>
              <c:ptCount val="3"/>
              <c:pt idx="0">
                <c:v>51</c:v>
              </c:pt>
              <c:pt idx="1">
                <c:v>85.58</c:v>
              </c:pt>
              <c:pt idx="2">
                <c:v>91.25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E667-44BD-BCB4-05C41320B44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F2F4F7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0D5DD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708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0D5DD"/>
            </a:solidFill>
            <a:prstDash val="solid"/>
          </a:ln>
        </c:spPr>
        <c:txPr>
          <a:bodyPr anchorCtr="1"/>
          <a:lstStyle/>
          <a:p>
            <a:pPr>
              <a:defRPr sz="1125" b="1">
                <a:solidFill>
                  <a:srgbClr val="101828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product promise: the system does not replace the procurement committee; it gives the committee a complete, sourced first evaluation pass.</a:t>
            </a:r>
          </a:p>
          <a:p>
            <a:r>
              <a:t>Introduce Group 5 and the capstone context, then move directly to the business risk the product addresses.</a:t>
            </a:r>
          </a:p>
          <a:p>
            <a:endParaRPr/>
          </a:p>
          <a:p>
            <a:r>
              <a:t>[Sources]</a:t>
            </a:r>
          </a:p>
          <a:p>
            <a:r>
              <a:t>- Capstone Project Guide, course presentation and project requirements, 27 Aug 2026.</a:t>
            </a:r>
          </a:p>
          <a:p>
            <a:r>
              <a:t>- Project README.md, title, course statement, and Group 5 team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the problem as both an efficiency issue and a governance issue.</a:t>
            </a:r>
          </a:p>
          <a:p>
            <a:r>
              <a:t>Use the BetaGrid example later to prove why price alone cannot determine the award.</a:t>
            </a:r>
          </a:p>
          <a:p>
            <a:r>
              <a:t>The system's value is a complete, sourced draft—not an autonomous procurement decision.</a:t>
            </a:r>
          </a:p>
          <a:p>
            <a:endParaRPr/>
          </a:p>
          <a:p>
            <a:r>
              <a:t>[Sources]</a:t>
            </a:r>
          </a:p>
          <a:p>
            <a:r>
              <a:t>- Project README.md §1–2, business problem, target user, expected value, and agentic justification.</a:t>
            </a:r>
          </a:p>
          <a:p>
            <a:r>
              <a:t>- Capstone Project Guide §1 and §3.1, business goal and target-user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main design choice: one supervisor owns the case, while three specialists perform bounded, non-overlapping work.</a:t>
            </a:r>
          </a:p>
          <a:p>
            <a:r>
              <a:t>The supervisor uses Plan-and-Execute. Specialists use bounded ReAct loops to retrieve evidence and call tools.</a:t>
            </a:r>
          </a:p>
          <a:p>
            <a:r>
              <a:t>Emphasize the authority split: agents interpret language; tools calculate matrices, scores, and exports.</a:t>
            </a:r>
          </a:p>
          <a:p>
            <a:endParaRPr/>
          </a:p>
          <a:p>
            <a:r>
              <a:t>[Sources]</a:t>
            </a:r>
          </a:p>
          <a:p>
            <a:r>
              <a:t>- Project README.md §2–3, architecture and reasoning design.</a:t>
            </a:r>
          </a:p>
          <a:p>
            <a:r>
              <a:t>- docs/architecture.md §1 and §3, LangGraph routing and reasoning patterns.</a:t>
            </a:r>
          </a:p>
          <a:p>
            <a:r>
              <a:t>- src/graph/workflow.py and src/agents/ in the submitted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the contracts quickly: responsibility, permitted actions, output, and completion evidence are explicit in the code and README.</a:t>
            </a:r>
          </a:p>
          <a:p>
            <a:r>
              <a:t>The Requirement Specialist cannot inspect bids, and the Comparison Specialist cannot change the evidence audit. Those boundaries reduce silent bias and duplicated responsibility.</a:t>
            </a:r>
          </a:p>
          <a:p>
            <a:endParaRPr/>
          </a:p>
          <a:p>
            <a:r>
              <a:t>[Sources]</a:t>
            </a:r>
          </a:p>
          <a:p>
            <a:r>
              <a:t>- Project README.md §3, agent contracts table.</a:t>
            </a:r>
          </a:p>
          <a:p>
            <a:r>
              <a:t>- CONTRACT docstrings in src/agents/supervisor.py, requirement_specialist.py, evidence_specialist.py, and comparison_specialist.py.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Separate state, short-term memory, and long-term retrieval. The workflow state holds structured artifacts; CaseMemory supports follow-up Q&amp;A; Chroma persists the reusable document knowledge.</a:t>
            </a:r>
          </a:p>
          <a:p>
            <a:r>
              <a:t>Point to the screenshot: retrieval is not decorative. Source metadata flows into compliance judgements and remains visible in the evidence trail.</a:t>
            </a:r>
          </a:p>
          <a:p>
            <a:endParaRPr/>
          </a:p>
          <a:p>
            <a:r>
              <a:t>[Sources]</a:t>
            </a:r>
          </a:p>
          <a:p>
            <a:r>
              <a:t>- docs/architecture.md §2, §5, and §7, state, RAG, and memory layers.</a:t>
            </a:r>
          </a:p>
          <a:p>
            <a:r>
              <a:t>- src/rag/ and src/memory/store.py in the submitted repository.</a:t>
            </a:r>
          </a:p>
          <a:p>
            <a:r>
              <a:t>- User-provided screenshot 3684023b-9359-4693-a409-01370ff82fb5.png.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retrieval tools are separate from the three graded business tools shown here.</a:t>
            </a:r>
          </a:p>
          <a:p>
            <a:r>
              <a:t>The registry validates every tool input with Pydantic. Invalid inputs return a structured error to the agent so it can correct itself without crashing the application.</a:t>
            </a:r>
          </a:p>
          <a:p>
            <a:r>
              <a:t>Stopping bounds and honest failure handling prevent runaway delegation and false success.</a:t>
            </a:r>
          </a:p>
          <a:p>
            <a:endParaRPr/>
          </a:p>
          <a:p>
            <a:r>
              <a:t>[Sources]</a:t>
            </a:r>
          </a:p>
          <a:p>
            <a:r>
              <a:t>- Project README.md §3–4, agent tools and technology stack.</a:t>
            </a:r>
          </a:p>
          <a:p>
            <a:r>
              <a:t>- docs/architecture.md §3, §6, and §8, reasoning, tool registry, and error handling.</a:t>
            </a:r>
          </a:p>
          <a:p>
            <a:r>
              <a:t>- User-provided screenshot 10c9be11-b7cd-44b0-a5e2-60350d1312b3.png.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the live-demo bridge. Show the sidebar readiness indicators, select all three suppliers, and keep the instruction about warranty and support SLA.</a:t>
            </a:r>
          </a:p>
          <a:p>
            <a:r>
              <a:t>During the run, call attention to the active agent, retrieval events, tool calls, and completion status—not raw hidden chain-of-thought.</a:t>
            </a:r>
          </a:p>
          <a:p>
            <a:r>
              <a:t>After the run, open Case Q&amp;A and ask: Why was BetaGrid disqualified?</a:t>
            </a:r>
          </a:p>
          <a:p>
            <a:endParaRPr/>
          </a:p>
          <a:p>
            <a:r>
              <a:t>[Sources]</a:t>
            </a:r>
          </a:p>
          <a:p>
            <a:r>
              <a:t>- Project README.md §7, application usage and demo scenario.</a:t>
            </a:r>
          </a:p>
          <a:p>
            <a:r>
              <a:t>- docs/rubric_map.md §3.4–3.5, working application and suggested demo flow.</a:t>
            </a:r>
          </a:p>
          <a:p>
            <a:r>
              <a:t>- User-provided screenshot cf9cf481-7833-4a32-a059-80966253c494.png.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Start with the decision: AlphaTech is recommended because it is the highest-ranked qualified bidder.</a:t>
            </a:r>
          </a:p>
          <a:p>
            <a:r>
              <a:t>Then make the business point: BetaGrid offered the lowest price, but mandatory failures disqualified it. The system prevents price from overriding compliance.</a:t>
            </a:r>
          </a:p>
          <a:p>
            <a:r>
              <a:t>Clarify reproducibility: agents may vary slightly in qualitative scores, while the scoring arithmetic and disqualification logic are deterministic tools.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ranking screenshot 8ec4992b-34c2-4568-894e-e40d522694e0.png, showing 91.25, 85.58, and 51.00.</a:t>
            </a:r>
          </a:p>
          <a:p>
            <a:r>
              <a:t>- User-provided executive summary screenshot 13141bec-4745-4895-8602-9c083cde6dbd.png, BetaGrid SAR 6.2M and mandatory failures.</a:t>
            </a:r>
          </a:p>
          <a:p>
            <a:r>
              <a:t>- Project README.md §7, expected demo result and deterministic-tool caveat.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that the product returns more than a ranking. It produces the complete review package: recommendation, risks, missing evidence, matrix, scores, source trail, and CSV.</a:t>
            </a:r>
          </a:p>
          <a:p>
            <a:r>
              <a:t>This is the handoff to a human procurement committee. The committee can review the judgement, verify the evidence, and approve or challenge the recommendation.</a:t>
            </a:r>
          </a:p>
          <a:p>
            <a:endParaRPr/>
          </a:p>
          <a:p>
            <a:r>
              <a:t>[Sources]</a:t>
            </a:r>
          </a:p>
          <a:p>
            <a:r>
              <a:t>- Project README.md §2 and §7, solution outputs and application usage.</a:t>
            </a:r>
          </a:p>
          <a:p>
            <a:r>
              <a:t>- User-provided screenshot 13141bec-4745-4895-8602-9c083cde6dbd.png.</a:t>
            </a:r>
          </a:p>
          <a:p>
            <a:r>
              <a:t>- src/tools/export_comparison.py in the submitted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one limitation and one improvement explicitly to satisfy the presentation rubric, then add the rest only if time allows.</a:t>
            </a:r>
          </a:p>
          <a:p>
            <a:r>
              <a:t>Close by resolving the opening promise: the system accelerates evidence collection and comparison while leaving the award authority with humans.</a:t>
            </a:r>
          </a:p>
          <a:p>
            <a:r>
              <a:t>Invite technical questions on LangGraph state, retrieval scoping, tool validation, or failure handling.</a:t>
            </a:r>
          </a:p>
          <a:p>
            <a:endParaRPr/>
          </a:p>
          <a:p>
            <a:r>
              <a:t>[Sources]</a:t>
            </a:r>
          </a:p>
          <a:p>
            <a:r>
              <a:t>- Project README.md §8 and §10, synthetic data, limitations, and future improvements.</a:t>
            </a:r>
          </a:p>
          <a:p>
            <a:r>
              <a:t>- Capstone Project Guide §3.5, requirement to state one honest limitation and one realistic future improvement.</a:t>
            </a:r>
          </a:p>
          <a:p>
            <a:r>
              <a:t>- GitHub repository: https://github.com/AlwaleedAlkhdairi/tender-compliance-agent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914A3A9-C2A8-4A57-AC63-879430B820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D0C529-E10E-403C-B1CE-49DC5CE1AEB6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SDAIA ACADEMY · ADVANCED AGENTIC AI SYSTEMS ENGINEERING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E02EB0-C446-435C-A965-6C65E4EBC829}"/>
              </a:ext>
            </a:extLst>
          </p:cNvPr>
          <p:cNvSpPr>
            <a:spLocks noGrp="1"/>
          </p:cNvSpPr>
          <p:nvPr/>
        </p:nvSpPr>
        <p:spPr>
          <a:xfrm>
            <a:off x="514350" y="1638300"/>
            <a:ext cx="10668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9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Procurement Tender</a:t>
            </a:r>
          </a:p>
          <a:p>
            <a:pPr algn="l">
              <a:defRPr sz="49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Compliance &amp; Supplier</a:t>
            </a:r>
          </a:p>
          <a:p>
            <a:pPr algn="l">
              <a:defRPr sz="49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Comparison Agent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142A46-716D-40E0-9717-319F4BB33DBC}"/>
              </a:ext>
            </a:extLst>
          </p:cNvPr>
          <p:cNvSpPr>
            <a:spLocks noGrp="1"/>
          </p:cNvSpPr>
          <p:nvPr/>
        </p:nvSpPr>
        <p:spPr>
          <a:xfrm>
            <a:off x="552450" y="445770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An auditable path from tender requirements to an evidence-backed award recommendation.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54CDF1-59C3-4297-B915-63CB0B7C3C93}"/>
              </a:ext>
            </a:extLst>
          </p:cNvPr>
          <p:cNvSpPr>
            <a:spLocks noGrp="1"/>
          </p:cNvSpPr>
          <p:nvPr/>
        </p:nvSpPr>
        <p:spPr>
          <a:xfrm>
            <a:off x="552450" y="5410200"/>
            <a:ext cx="109347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FB0CF7-C93A-4E2F-8EED-8C30B04DF78B}"/>
              </a:ext>
            </a:extLst>
          </p:cNvPr>
          <p:cNvSpPr>
            <a:spLocks noGrp="1"/>
          </p:cNvSpPr>
          <p:nvPr/>
        </p:nvSpPr>
        <p:spPr>
          <a:xfrm>
            <a:off x="552450" y="5657850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GROUP 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7B97D5-B17D-4B8B-ADDD-B7708A1A9F7F}"/>
              </a:ext>
            </a:extLst>
          </p:cNvPr>
          <p:cNvSpPr>
            <a:spLocks noGrp="1"/>
          </p:cNvSpPr>
          <p:nvPr/>
        </p:nvSpPr>
        <p:spPr>
          <a:xfrm>
            <a:off x="552450" y="596265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Alwaleed Alkhdairi  ·  Ammar Al-Ahmadi  ·  Adel Al-Otaibi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FFCFAA-3AED-48DD-8C17-AE28BADEE766}"/>
              </a:ext>
            </a:extLst>
          </p:cNvPr>
          <p:cNvSpPr>
            <a:spLocks noGrp="1"/>
          </p:cNvSpPr>
          <p:nvPr/>
        </p:nvSpPr>
        <p:spPr>
          <a:xfrm>
            <a:off x="9620250" y="5962650"/>
            <a:ext cx="1866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27 August 2026</a:t>
            </a:r>
          </a:p>
        </p:txBody>
      </p:sp>
    </p:spTree>
    <p:extLst>
      <p:ext uri="{BB962C8B-B14F-4D97-AF65-F5344CB8AC3E}">
        <p14:creationId xmlns:p14="http://schemas.microsoft.com/office/powerpoint/2010/main" val="137349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D0CC0A4-E48F-45B1-ACA4-AAC4CC0D1DC6}"/>
              </a:ext>
            </a:extLst>
          </p:cNvPr>
          <p:cNvSpPr>
            <a:spLocks noGrp="1"/>
          </p:cNvSpPr>
          <p:nvPr/>
        </p:nvSpPr>
        <p:spPr>
          <a:xfrm>
            <a:off x="438150" y="323850"/>
            <a:ext cx="110966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lowest price can still be the wrong award decision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E37295-29FB-4FD7-A851-B2B46611BB3F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113157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CA9596-5136-4DEA-A9F2-CE88DB828F86}"/>
              </a:ext>
            </a:extLst>
          </p:cNvPr>
          <p:cNvSpPr>
            <a:spLocks noGrp="1"/>
          </p:cNvSpPr>
          <p:nvPr/>
        </p:nvSpPr>
        <p:spPr>
          <a:xfrm>
            <a:off x="11220450" y="640080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B4D883-13A7-4D7D-82D9-EDD7D7513C72}"/>
              </a:ext>
            </a:extLst>
          </p:cNvPr>
          <p:cNvSpPr>
            <a:spLocks noGrp="1"/>
          </p:cNvSpPr>
          <p:nvPr/>
        </p:nvSpPr>
        <p:spPr>
          <a:xfrm>
            <a:off x="457200" y="13525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BUSINESS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83E26E-B8E1-4BF2-BE0A-CB562D6D1CAF}"/>
              </a:ext>
            </a:extLst>
          </p:cNvPr>
          <p:cNvSpPr>
            <a:spLocks noGrp="1"/>
          </p:cNvSpPr>
          <p:nvPr/>
        </p:nvSpPr>
        <p:spPr>
          <a:xfrm>
            <a:off x="457200" y="1733550"/>
            <a:ext cx="409575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Manual tender evaluation is slow, inconsistent, and difficult to defend under review.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06C610-36C5-4564-9779-F9D902F96C93}"/>
              </a:ext>
            </a:extLst>
          </p:cNvPr>
          <p:cNvSpPr>
            <a:spLocks noGrp="1"/>
          </p:cNvSpPr>
          <p:nvPr/>
        </p:nvSpPr>
        <p:spPr>
          <a:xfrm>
            <a:off x="457200" y="37147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Target user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C2A074-02E4-4036-AB38-7DD0C5A33976}"/>
              </a:ext>
            </a:extLst>
          </p:cNvPr>
          <p:cNvSpPr>
            <a:spLocks noGrp="1"/>
          </p:cNvSpPr>
          <p:nvPr/>
        </p:nvSpPr>
        <p:spPr>
          <a:xfrm>
            <a:off x="457200" y="4076700"/>
            <a:ext cx="4000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Public- and private-sector procurement evaluation teams.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EAB04C-A971-4471-AFBF-CC5141F77A40}"/>
              </a:ext>
            </a:extLst>
          </p:cNvPr>
          <p:cNvSpPr>
            <a:spLocks noGrp="1"/>
          </p:cNvSpPr>
          <p:nvPr/>
        </p:nvSpPr>
        <p:spPr>
          <a:xfrm>
            <a:off x="457200" y="50673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Expected value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73D073-7B2C-4987-B1B3-2011243C0925}"/>
              </a:ext>
            </a:extLst>
          </p:cNvPr>
          <p:cNvSpPr>
            <a:spLocks noGrp="1"/>
          </p:cNvSpPr>
          <p:nvPr/>
        </p:nvSpPr>
        <p:spPr>
          <a:xfrm>
            <a:off x="457200" y="5410200"/>
            <a:ext cx="4095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 sourced first-pass evaluation that lets humans review decisions instead of building the matrix from scratch.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1946A2-E2CD-4498-854B-C6014F32B3F3}"/>
              </a:ext>
            </a:extLst>
          </p:cNvPr>
          <p:cNvSpPr>
            <a:spLocks noGrp="1"/>
          </p:cNvSpPr>
          <p:nvPr/>
        </p:nvSpPr>
        <p:spPr>
          <a:xfrm>
            <a:off x="5143500" y="16764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ED81B0-2D35-4122-9CD8-3DEA7D17ECFB}"/>
              </a:ext>
            </a:extLst>
          </p:cNvPr>
          <p:cNvSpPr>
            <a:spLocks noGrp="1"/>
          </p:cNvSpPr>
          <p:nvPr/>
        </p:nvSpPr>
        <p:spPr>
          <a:xfrm>
            <a:off x="5143500" y="20002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Requirement coverage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8E3946-66DF-4086-BBC3-5894BB0CAF1E}"/>
              </a:ext>
            </a:extLst>
          </p:cNvPr>
          <p:cNvSpPr>
            <a:spLocks noGrp="1"/>
          </p:cNvSpPr>
          <p:nvPr/>
        </p:nvSpPr>
        <p:spPr>
          <a:xfrm>
            <a:off x="5143500" y="2438400"/>
            <a:ext cx="30480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596A0C-8718-4A33-9C45-F1F9276EEA52}"/>
              </a:ext>
            </a:extLst>
          </p:cNvPr>
          <p:cNvSpPr>
            <a:spLocks noGrp="1"/>
          </p:cNvSpPr>
          <p:nvPr/>
        </p:nvSpPr>
        <p:spPr>
          <a:xfrm>
            <a:off x="5143500" y="2609850"/>
            <a:ext cx="304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Every bid must be checked against mandatory and scored criteria.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5645F6-EB72-4324-856B-E8C4FF193359}"/>
              </a:ext>
            </a:extLst>
          </p:cNvPr>
          <p:cNvSpPr>
            <a:spLocks noGrp="1"/>
          </p:cNvSpPr>
          <p:nvPr/>
        </p:nvSpPr>
        <p:spPr>
          <a:xfrm>
            <a:off x="8515350" y="16764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E35A22-8648-4475-9ACA-DF63FAA777A8}"/>
              </a:ext>
            </a:extLst>
          </p:cNvPr>
          <p:cNvSpPr>
            <a:spLocks noGrp="1"/>
          </p:cNvSpPr>
          <p:nvPr/>
        </p:nvSpPr>
        <p:spPr>
          <a:xfrm>
            <a:off x="8515350" y="20002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Evidence gaps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63CADE-C263-447E-B280-8D78B8DC66B7}"/>
              </a:ext>
            </a:extLst>
          </p:cNvPr>
          <p:cNvSpPr>
            <a:spLocks noGrp="1"/>
          </p:cNvSpPr>
          <p:nvPr/>
        </p:nvSpPr>
        <p:spPr>
          <a:xfrm>
            <a:off x="8515350" y="2438400"/>
            <a:ext cx="30480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1C5C78-0BBE-41D0-9E05-9BE5AB080192}"/>
              </a:ext>
            </a:extLst>
          </p:cNvPr>
          <p:cNvSpPr>
            <a:spLocks noGrp="1"/>
          </p:cNvSpPr>
          <p:nvPr/>
        </p:nvSpPr>
        <p:spPr>
          <a:xfrm>
            <a:off x="8515350" y="2609850"/>
            <a:ext cx="304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Missing certificates, SLAs, or schedules can invalidate an offer.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568628-15BD-435D-AFE7-62984C17690F}"/>
              </a:ext>
            </a:extLst>
          </p:cNvPr>
          <p:cNvSpPr>
            <a:spLocks noGrp="1"/>
          </p:cNvSpPr>
          <p:nvPr/>
        </p:nvSpPr>
        <p:spPr>
          <a:xfrm>
            <a:off x="5143500" y="38100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FA587F-C6E0-4D0A-B319-C3F5DF3DF9B1}"/>
              </a:ext>
            </a:extLst>
          </p:cNvPr>
          <p:cNvSpPr>
            <a:spLocks noGrp="1"/>
          </p:cNvSpPr>
          <p:nvPr/>
        </p:nvSpPr>
        <p:spPr>
          <a:xfrm>
            <a:off x="5143500" y="41338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Scoring consistency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239FF6-EBC4-4005-8D11-693B636E5FC5}"/>
              </a:ext>
            </a:extLst>
          </p:cNvPr>
          <p:cNvSpPr>
            <a:spLocks noGrp="1"/>
          </p:cNvSpPr>
          <p:nvPr/>
        </p:nvSpPr>
        <p:spPr>
          <a:xfrm>
            <a:off x="5143500" y="4572000"/>
            <a:ext cx="30480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6F1A04-4612-4786-AAE4-A4D1AC3B867E}"/>
              </a:ext>
            </a:extLst>
          </p:cNvPr>
          <p:cNvSpPr>
            <a:spLocks noGrp="1"/>
          </p:cNvSpPr>
          <p:nvPr/>
        </p:nvSpPr>
        <p:spPr>
          <a:xfrm>
            <a:off x="5143500" y="4743450"/>
            <a:ext cx="304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Weighted criteria must be applied the same way to every supplier.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3BB759-345B-4164-B32A-8AA50AC4EB5F}"/>
              </a:ext>
            </a:extLst>
          </p:cNvPr>
          <p:cNvSpPr>
            <a:spLocks noGrp="1"/>
          </p:cNvSpPr>
          <p:nvPr/>
        </p:nvSpPr>
        <p:spPr>
          <a:xfrm>
            <a:off x="8515350" y="38100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9B61D3-D1F6-460B-ADB8-74AB1D31A3CA}"/>
              </a:ext>
            </a:extLst>
          </p:cNvPr>
          <p:cNvSpPr>
            <a:spLocks noGrp="1"/>
          </p:cNvSpPr>
          <p:nvPr/>
        </p:nvSpPr>
        <p:spPr>
          <a:xfrm>
            <a:off x="8515350" y="41338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Auditability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90C080-685E-4EBB-94F8-AEEC00B704CF}"/>
              </a:ext>
            </a:extLst>
          </p:cNvPr>
          <p:cNvSpPr>
            <a:spLocks noGrp="1"/>
          </p:cNvSpPr>
          <p:nvPr/>
        </p:nvSpPr>
        <p:spPr>
          <a:xfrm>
            <a:off x="8515350" y="4572000"/>
            <a:ext cx="30480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47578F-2E47-42BA-A4AB-CBC36510013E}"/>
              </a:ext>
            </a:extLst>
          </p:cNvPr>
          <p:cNvSpPr>
            <a:spLocks noGrp="1"/>
          </p:cNvSpPr>
          <p:nvPr/>
        </p:nvSpPr>
        <p:spPr>
          <a:xfrm>
            <a:off x="8515350" y="4743450"/>
            <a:ext cx="304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Every judgement needs a quote, source, and explainable rule.</a:t>
            </a:r>
          </a:p>
        </p:txBody>
      </p:sp>
    </p:spTree>
    <p:extLst>
      <p:ext uri="{BB962C8B-B14F-4D97-AF65-F5344CB8AC3E}">
        <p14:creationId xmlns:p14="http://schemas.microsoft.com/office/powerpoint/2010/main" val="400134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51E7F42F-4E7B-4002-86C5-B828F1E05D26}"/>
              </a:ext>
            </a:extLst>
          </p:cNvPr>
          <p:cNvSpPr>
            <a:spLocks noGrp="1"/>
          </p:cNvSpPr>
          <p:nvPr/>
        </p:nvSpPr>
        <p:spPr>
          <a:xfrm>
            <a:off x="438150" y="323850"/>
            <a:ext cx="110966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Supervision separates judgement from arithmetic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E11C5F-C8B3-4C57-B409-4CA43F05FBD9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113157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6FA2D8-6770-4B58-B202-EE5CFA21018F}"/>
              </a:ext>
            </a:extLst>
          </p:cNvPr>
          <p:cNvSpPr>
            <a:spLocks noGrp="1"/>
          </p:cNvSpPr>
          <p:nvPr/>
        </p:nvSpPr>
        <p:spPr>
          <a:xfrm>
            <a:off x="11220450" y="640080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2408E9-3334-4C1F-B80A-0218123436FC}"/>
              </a:ext>
            </a:extLst>
          </p:cNvPr>
          <p:cNvSpPr>
            <a:spLocks noGrp="1"/>
          </p:cNvSpPr>
          <p:nvPr/>
        </p:nvSpPr>
        <p:spPr>
          <a:xfrm>
            <a:off x="361950" y="2724150"/>
            <a:ext cx="1581150" cy="990600"/>
          </a:xfrm>
          <a:prstGeom prst="roundRect">
            <a:avLst>
              <a:gd name="adj" fmla="val 7692"/>
            </a:avLst>
          </a:prstGeom>
          <a:solidFill>
            <a:srgbClr val="FFF3DD"/>
          </a:solidFill>
          <a:ln w="14288">
            <a:solidFill>
              <a:srgbClr val="E07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B837B77-4F37-434C-812E-D2C5F30B2491}"/>
              </a:ext>
            </a:extLst>
          </p:cNvPr>
          <p:cNvSpPr>
            <a:spLocks noGrp="1"/>
          </p:cNvSpPr>
          <p:nvPr/>
        </p:nvSpPr>
        <p:spPr>
          <a:xfrm>
            <a:off x="2438400" y="2305050"/>
            <a:ext cx="2095500" cy="1809750"/>
          </a:xfrm>
          <a:prstGeom prst="roundRect">
            <a:avLst>
              <a:gd name="adj" fmla="val 4211"/>
            </a:avLst>
          </a:prstGeom>
          <a:solidFill>
            <a:srgbClr val="EAF5FB"/>
          </a:solidFill>
          <a:ln w="14288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9C36417-A481-49FB-A890-463EFF59AA25}"/>
              </a:ext>
            </a:extLst>
          </p:cNvPr>
          <p:cNvSpPr>
            <a:spLocks noGrp="1"/>
          </p:cNvSpPr>
          <p:nvPr/>
        </p:nvSpPr>
        <p:spPr>
          <a:xfrm>
            <a:off x="5219700" y="1409700"/>
            <a:ext cx="1771650" cy="914400"/>
          </a:xfrm>
          <a:prstGeom prst="roundRect">
            <a:avLst>
              <a:gd name="adj" fmla="val 8333"/>
            </a:avLst>
          </a:prstGeom>
          <a:solidFill>
            <a:srgbClr val="EAF5FB"/>
          </a:solidFill>
          <a:ln w="14288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05D77E3-E4B7-4719-8627-0CA58601B081}"/>
              </a:ext>
            </a:extLst>
          </p:cNvPr>
          <p:cNvSpPr>
            <a:spLocks noGrp="1"/>
          </p:cNvSpPr>
          <p:nvPr/>
        </p:nvSpPr>
        <p:spPr>
          <a:xfrm>
            <a:off x="5219700" y="2686050"/>
            <a:ext cx="1771650" cy="914400"/>
          </a:xfrm>
          <a:prstGeom prst="roundRect">
            <a:avLst>
              <a:gd name="adj" fmla="val 8333"/>
            </a:avLst>
          </a:prstGeom>
          <a:solidFill>
            <a:srgbClr val="EAF5FB"/>
          </a:solidFill>
          <a:ln w="14288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472F53A-9906-4D7F-82C9-B3D6EDFAF737}"/>
              </a:ext>
            </a:extLst>
          </p:cNvPr>
          <p:cNvSpPr>
            <a:spLocks noGrp="1"/>
          </p:cNvSpPr>
          <p:nvPr/>
        </p:nvSpPr>
        <p:spPr>
          <a:xfrm>
            <a:off x="5219700" y="3962400"/>
            <a:ext cx="1771650" cy="914400"/>
          </a:xfrm>
          <a:prstGeom prst="roundRect">
            <a:avLst>
              <a:gd name="adj" fmla="val 8333"/>
            </a:avLst>
          </a:prstGeom>
          <a:solidFill>
            <a:srgbClr val="EAF5FB"/>
          </a:solidFill>
          <a:ln w="14288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7A21FE9-1B3E-4C53-A771-E49213709E9E}"/>
              </a:ext>
            </a:extLst>
          </p:cNvPr>
          <p:cNvSpPr>
            <a:spLocks noGrp="1"/>
          </p:cNvSpPr>
          <p:nvPr/>
        </p:nvSpPr>
        <p:spPr>
          <a:xfrm>
            <a:off x="7677150" y="1733550"/>
            <a:ext cx="1847850" cy="1066800"/>
          </a:xfrm>
          <a:prstGeom prst="roundRect">
            <a:avLst>
              <a:gd name="adj" fmla="val 7143"/>
            </a:avLst>
          </a:prstGeom>
          <a:solidFill>
            <a:srgbClr val="EAF7EF"/>
          </a:solidFill>
          <a:ln w="14288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A058427-EB74-4323-9BB3-D46C9FA7D1B5}"/>
              </a:ext>
            </a:extLst>
          </p:cNvPr>
          <p:cNvSpPr>
            <a:spLocks noGrp="1"/>
          </p:cNvSpPr>
          <p:nvPr/>
        </p:nvSpPr>
        <p:spPr>
          <a:xfrm>
            <a:off x="7677150" y="3562350"/>
            <a:ext cx="1847850" cy="1066800"/>
          </a:xfrm>
          <a:prstGeom prst="roundRect">
            <a:avLst>
              <a:gd name="adj" fmla="val 7143"/>
            </a:avLst>
          </a:prstGeom>
          <a:solidFill>
            <a:srgbClr val="FFF3DD"/>
          </a:solidFill>
          <a:ln w="14288">
            <a:solidFill>
              <a:srgbClr val="B46A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7C0C8B7-8C85-4BB8-BA3A-8B33559EE715}"/>
              </a:ext>
            </a:extLst>
          </p:cNvPr>
          <p:cNvSpPr>
            <a:spLocks noGrp="1"/>
          </p:cNvSpPr>
          <p:nvPr/>
        </p:nvSpPr>
        <p:spPr>
          <a:xfrm>
            <a:off x="10077450" y="2571750"/>
            <a:ext cx="1714500" cy="129540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4288">
            <a:solidFill>
              <a:srgbClr val="E07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cxnSp>
        <p:nvCxnSpPr>
          <p:cNvPr id="52" name="Connector: Elbow 51"/>
          <p:cNvCxnSpPr>
            <a:stCxn id="4" idx="3"/>
            <a:endCxn id="5" idx="1"/>
          </p:cNvCxnSpPr>
          <p:nvPr/>
        </p:nvCxnSpPr>
        <p:spPr>
          <a:xfrm flipV="1">
            <a:off x="1943100" y="3209925"/>
            <a:ext cx="495300" cy="9525"/>
          </a:xfrm>
          <a:prstGeom prst="bentConnector3">
            <a:avLst>
              <a:gd name="adj1" fmla="val 50000"/>
            </a:avLst>
          </a:prstGeom>
          <a:ln w="17145">
            <a:solidFill>
              <a:srgbClr val="98A2B3"/>
            </a:solidFill>
            <a:prstDash val="solid"/>
            <a:tailEnd type="arrow" w="sm" len="sm"/>
          </a:ln>
        </p:spPr>
      </p:cxnSp>
      <p:cxnSp>
        <p:nvCxnSpPr>
          <p:cNvPr id="53" name="Connector: Elbow 52"/>
          <p:cNvCxnSpPr>
            <a:stCxn id="5" idx="3"/>
            <a:endCxn id="6" idx="1"/>
          </p:cNvCxnSpPr>
          <p:nvPr/>
        </p:nvCxnSpPr>
        <p:spPr>
          <a:xfrm flipV="1">
            <a:off x="4533900" y="1866900"/>
            <a:ext cx="685800" cy="1343025"/>
          </a:xfrm>
          <a:prstGeom prst="bentConnector3">
            <a:avLst>
              <a:gd name="adj1" fmla="val 50000"/>
            </a:avLst>
          </a:prstGeom>
          <a:ln w="17145">
            <a:solidFill>
              <a:srgbClr val="98A2B3"/>
            </a:solidFill>
            <a:prstDash val="solid"/>
            <a:tailEnd type="arrow" w="sm" len="sm"/>
          </a:ln>
        </p:spPr>
      </p:cxnSp>
      <p:cxnSp>
        <p:nvCxnSpPr>
          <p:cNvPr id="54" name="Connector: Elbow 53"/>
          <p:cNvCxnSpPr>
            <a:stCxn id="5" idx="3"/>
            <a:endCxn id="7" idx="1"/>
          </p:cNvCxnSpPr>
          <p:nvPr/>
        </p:nvCxnSpPr>
        <p:spPr>
          <a:xfrm flipV="1">
            <a:off x="4533900" y="3143250"/>
            <a:ext cx="685800" cy="66675"/>
          </a:xfrm>
          <a:prstGeom prst="bentConnector3">
            <a:avLst>
              <a:gd name="adj1" fmla="val 50000"/>
            </a:avLst>
          </a:prstGeom>
          <a:ln w="17145">
            <a:solidFill>
              <a:srgbClr val="98A2B3"/>
            </a:solidFill>
            <a:prstDash val="solid"/>
            <a:tailEnd type="arrow" w="sm" len="sm"/>
          </a:ln>
        </p:spPr>
      </p:cxnSp>
      <p:cxnSp>
        <p:nvCxnSpPr>
          <p:cNvPr id="55" name="Connector: Elbow 54"/>
          <p:cNvCxnSpPr>
            <a:stCxn id="5" idx="3"/>
            <a:endCxn id="8" idx="1"/>
          </p:cNvCxnSpPr>
          <p:nvPr/>
        </p:nvCxnSpPr>
        <p:spPr>
          <a:xfrm>
            <a:off x="4533900" y="3209925"/>
            <a:ext cx="685800" cy="1209675"/>
          </a:xfrm>
          <a:prstGeom prst="bentConnector3">
            <a:avLst>
              <a:gd name="adj1" fmla="val 50000"/>
            </a:avLst>
          </a:prstGeom>
          <a:ln w="17145">
            <a:solidFill>
              <a:srgbClr val="98A2B3"/>
            </a:solidFill>
            <a:prstDash val="solid"/>
            <a:tailEnd type="arrow" w="sm" len="sm"/>
          </a:ln>
        </p:spPr>
      </p:cxnSp>
      <p:cxnSp>
        <p:nvCxnSpPr>
          <p:cNvPr id="56" name="Connector: Elbow 55"/>
          <p:cNvCxnSpPr>
            <a:stCxn id="6" idx="3"/>
            <a:endCxn id="9" idx="1"/>
          </p:cNvCxnSpPr>
          <p:nvPr/>
        </p:nvCxnSpPr>
        <p:spPr>
          <a:xfrm>
            <a:off x="6991350" y="1866900"/>
            <a:ext cx="685800" cy="400050"/>
          </a:xfrm>
          <a:prstGeom prst="bentConnector3">
            <a:avLst>
              <a:gd name="adj1" fmla="val 50000"/>
            </a:avLst>
          </a:prstGeom>
          <a:ln w="17145">
            <a:solidFill>
              <a:srgbClr val="98A2B3"/>
            </a:solidFill>
            <a:prstDash val="solid"/>
            <a:tailEnd type="arrow" w="sm" len="sm"/>
          </a:ln>
        </p:spPr>
      </p:cxnSp>
      <p:cxnSp>
        <p:nvCxnSpPr>
          <p:cNvPr id="57" name="Connector: Elbow 56"/>
          <p:cNvCxnSpPr>
            <a:stCxn id="7" idx="3"/>
            <a:endCxn id="9" idx="1"/>
          </p:cNvCxnSpPr>
          <p:nvPr/>
        </p:nvCxnSpPr>
        <p:spPr>
          <a:xfrm flipV="1">
            <a:off x="6991350" y="2266950"/>
            <a:ext cx="685800" cy="876300"/>
          </a:xfrm>
          <a:prstGeom prst="bentConnector3">
            <a:avLst>
              <a:gd name="adj1" fmla="val 50000"/>
            </a:avLst>
          </a:prstGeom>
          <a:ln w="17145">
            <a:solidFill>
              <a:srgbClr val="98A2B3"/>
            </a:solidFill>
            <a:prstDash val="solid"/>
            <a:tailEnd type="arrow" w="sm" len="sm"/>
          </a:ln>
        </p:spPr>
      </p:cxnSp>
      <p:cxnSp>
        <p:nvCxnSpPr>
          <p:cNvPr id="58" name="Connector: Elbow 57"/>
          <p:cNvCxnSpPr>
            <a:stCxn id="7" idx="3"/>
            <a:endCxn id="10" idx="1"/>
          </p:cNvCxnSpPr>
          <p:nvPr/>
        </p:nvCxnSpPr>
        <p:spPr>
          <a:xfrm>
            <a:off x="6991350" y="3143250"/>
            <a:ext cx="685800" cy="952500"/>
          </a:xfrm>
          <a:prstGeom prst="bentConnector3">
            <a:avLst>
              <a:gd name="adj1" fmla="val 50000"/>
            </a:avLst>
          </a:prstGeom>
          <a:ln w="17145">
            <a:solidFill>
              <a:srgbClr val="98A2B3"/>
            </a:solidFill>
            <a:prstDash val="solid"/>
            <a:tailEnd type="arrow" w="sm" len="sm"/>
          </a:ln>
        </p:spPr>
      </p:cxnSp>
      <p:cxnSp>
        <p:nvCxnSpPr>
          <p:cNvPr id="59" name="Connector: Elbow 58"/>
          <p:cNvCxnSpPr>
            <a:stCxn id="8" idx="3"/>
            <a:endCxn id="9" idx="1"/>
          </p:cNvCxnSpPr>
          <p:nvPr/>
        </p:nvCxnSpPr>
        <p:spPr>
          <a:xfrm flipV="1">
            <a:off x="6991350" y="2266950"/>
            <a:ext cx="685800" cy="2152650"/>
          </a:xfrm>
          <a:prstGeom prst="bentConnector3">
            <a:avLst>
              <a:gd name="adj1" fmla="val 50000"/>
            </a:avLst>
          </a:prstGeom>
          <a:ln w="17145">
            <a:solidFill>
              <a:srgbClr val="98A2B3"/>
            </a:solidFill>
            <a:prstDash val="solid"/>
            <a:tailEnd type="arrow" w="sm" len="sm"/>
          </a:ln>
        </p:spPr>
      </p:cxnSp>
      <p:cxnSp>
        <p:nvCxnSpPr>
          <p:cNvPr id="60" name="Connector: Elbow 59"/>
          <p:cNvCxnSpPr>
            <a:stCxn id="8" idx="3"/>
            <a:endCxn id="10" idx="1"/>
          </p:cNvCxnSpPr>
          <p:nvPr/>
        </p:nvCxnSpPr>
        <p:spPr>
          <a:xfrm flipV="1">
            <a:off x="6991350" y="4095750"/>
            <a:ext cx="685800" cy="323850"/>
          </a:xfrm>
          <a:prstGeom prst="bentConnector3">
            <a:avLst>
              <a:gd name="adj1" fmla="val 50000"/>
            </a:avLst>
          </a:prstGeom>
          <a:ln w="17145">
            <a:solidFill>
              <a:srgbClr val="98A2B3"/>
            </a:solidFill>
            <a:prstDash val="solid"/>
            <a:tailEnd type="arrow" w="sm" len="sm"/>
          </a:ln>
        </p:spPr>
      </p:cxnSp>
      <p:cxnSp>
        <p:nvCxnSpPr>
          <p:cNvPr id="61" name="Connector: Elbow 60"/>
          <p:cNvCxnSpPr>
            <a:cxnSpLocks/>
          </p:cNvCxnSpPr>
          <p:nvPr/>
        </p:nvCxnSpPr>
        <p:spPr>
          <a:xfrm flipV="1">
            <a:off x="4533900" y="3333750"/>
            <a:ext cx="5543550" cy="485775"/>
          </a:xfrm>
          <a:prstGeom prst="bentConnector3">
            <a:avLst>
              <a:gd name="adj1" fmla="val 54079"/>
            </a:avLst>
          </a:prstGeom>
          <a:ln w="17145">
            <a:solidFill>
              <a:srgbClr val="98A2B3"/>
            </a:solidFill>
            <a:prstDash val="solid"/>
            <a:tailEnd type="arrow" w="sm" len="sm"/>
          </a:ln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9D1AF104-BCB5-449A-97FB-BF77CB873FB6}"/>
              </a:ext>
            </a:extLst>
          </p:cNvPr>
          <p:cNvSpPr>
            <a:spLocks noGrp="1"/>
          </p:cNvSpPr>
          <p:nvPr/>
        </p:nvSpPr>
        <p:spPr>
          <a:xfrm>
            <a:off x="476250" y="2838450"/>
            <a:ext cx="1352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Procurement officer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13ECB9-54BA-4C6F-8CC5-BA27DA97F97B}"/>
              </a:ext>
            </a:extLst>
          </p:cNvPr>
          <p:cNvSpPr>
            <a:spLocks noGrp="1"/>
          </p:cNvSpPr>
          <p:nvPr/>
        </p:nvSpPr>
        <p:spPr>
          <a:xfrm>
            <a:off x="476250" y="3295650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Tender · suppliers · instructions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7E6CC8-9272-477D-A79B-9E67F1267224}"/>
              </a:ext>
            </a:extLst>
          </p:cNvPr>
          <p:cNvSpPr>
            <a:spLocks noGrp="1"/>
          </p:cNvSpPr>
          <p:nvPr/>
        </p:nvSpPr>
        <p:spPr>
          <a:xfrm>
            <a:off x="2552700" y="2419350"/>
            <a:ext cx="1866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Supervisor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925854B-6F14-4A08-802A-B2CB1587CFA2}"/>
              </a:ext>
            </a:extLst>
          </p:cNvPr>
          <p:cNvSpPr>
            <a:spLocks noGrp="1"/>
          </p:cNvSpPr>
          <p:nvPr/>
        </p:nvSpPr>
        <p:spPr>
          <a:xfrm>
            <a:off x="2552700" y="2876550"/>
            <a:ext cx="18669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Plan · route · validate · aggregate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84D89C-3060-48FC-AAF0-3762CAF91E08}"/>
              </a:ext>
            </a:extLst>
          </p:cNvPr>
          <p:cNvSpPr>
            <a:spLocks noGrp="1"/>
          </p:cNvSpPr>
          <p:nvPr/>
        </p:nvSpPr>
        <p:spPr>
          <a:xfrm>
            <a:off x="5334000" y="1524000"/>
            <a:ext cx="1543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Requirement Specialist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01E61B6-F868-4187-BD8A-D21EC8491520}"/>
              </a:ext>
            </a:extLst>
          </p:cNvPr>
          <p:cNvSpPr>
            <a:spLocks noGrp="1"/>
          </p:cNvSpPr>
          <p:nvPr/>
        </p:nvSpPr>
        <p:spPr>
          <a:xfrm>
            <a:off x="5334000" y="1981200"/>
            <a:ext cx="1543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Tender interpretation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23F48B4-05DB-4431-8AFA-376630268DD8}"/>
              </a:ext>
            </a:extLst>
          </p:cNvPr>
          <p:cNvSpPr>
            <a:spLocks noGrp="1"/>
          </p:cNvSpPr>
          <p:nvPr/>
        </p:nvSpPr>
        <p:spPr>
          <a:xfrm>
            <a:off x="5334000" y="2800350"/>
            <a:ext cx="1543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Evidence Specialist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0B71AE-00F7-4BDE-99FB-F0078695EB94}"/>
              </a:ext>
            </a:extLst>
          </p:cNvPr>
          <p:cNvSpPr>
            <a:spLocks noGrp="1"/>
          </p:cNvSpPr>
          <p:nvPr/>
        </p:nvSpPr>
        <p:spPr>
          <a:xfrm>
            <a:off x="5334000" y="3257550"/>
            <a:ext cx="1543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Bid audit + citations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291808C-E60D-4395-8D6C-D21F80D1163A}"/>
              </a:ext>
            </a:extLst>
          </p:cNvPr>
          <p:cNvSpPr>
            <a:spLocks noGrp="1"/>
          </p:cNvSpPr>
          <p:nvPr/>
        </p:nvSpPr>
        <p:spPr>
          <a:xfrm>
            <a:off x="5334000" y="4076700"/>
            <a:ext cx="1543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Comparison Specialist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941F884-5E10-4545-A877-84B838775EB6}"/>
              </a:ext>
            </a:extLst>
          </p:cNvPr>
          <p:cNvSpPr>
            <a:spLocks noGrp="1"/>
          </p:cNvSpPr>
          <p:nvPr/>
        </p:nvSpPr>
        <p:spPr>
          <a:xfrm>
            <a:off x="5334000" y="4533900"/>
            <a:ext cx="1543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Score · rank · export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98F105C-C26A-4779-803F-0E00D2463546}"/>
              </a:ext>
            </a:extLst>
          </p:cNvPr>
          <p:cNvSpPr>
            <a:spLocks noGrp="1"/>
          </p:cNvSpPr>
          <p:nvPr/>
        </p:nvSpPr>
        <p:spPr>
          <a:xfrm>
            <a:off x="7791450" y="1847850"/>
            <a:ext cx="1619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Vector store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E0F2DC-B0EC-4EC4-B120-184DC34895B1}"/>
              </a:ext>
            </a:extLst>
          </p:cNvPr>
          <p:cNvSpPr>
            <a:spLocks noGrp="1"/>
          </p:cNvSpPr>
          <p:nvPr/>
        </p:nvSpPr>
        <p:spPr>
          <a:xfrm>
            <a:off x="7791450" y="2305050"/>
            <a:ext cx="1619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Tender · guidance · bids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54F5DB7-9C28-48CC-8912-8718032ED937}"/>
              </a:ext>
            </a:extLst>
          </p:cNvPr>
          <p:cNvSpPr>
            <a:spLocks noGrp="1"/>
          </p:cNvSpPr>
          <p:nvPr/>
        </p:nvSpPr>
        <p:spPr>
          <a:xfrm>
            <a:off x="7791450" y="3676650"/>
            <a:ext cx="1619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Validated tools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C460FF8-C21E-4D3F-BC72-AC18D9B1BD1B}"/>
              </a:ext>
            </a:extLst>
          </p:cNvPr>
          <p:cNvSpPr>
            <a:spLocks noGrp="1"/>
          </p:cNvSpPr>
          <p:nvPr/>
        </p:nvSpPr>
        <p:spPr>
          <a:xfrm>
            <a:off x="7791450" y="4133850"/>
            <a:ext cx="1619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Matrix · score · CSV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3530153-E84B-4FBF-8B3F-EF4143834CF3}"/>
              </a:ext>
            </a:extLst>
          </p:cNvPr>
          <p:cNvSpPr>
            <a:spLocks noGrp="1"/>
          </p:cNvSpPr>
          <p:nvPr/>
        </p:nvSpPr>
        <p:spPr>
          <a:xfrm>
            <a:off x="10191750" y="2686050"/>
            <a:ext cx="1485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Decision package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C634A84-06AF-46B0-AE2F-14265FB80B67}"/>
              </a:ext>
            </a:extLst>
          </p:cNvPr>
          <p:cNvSpPr>
            <a:spLocks noGrp="1"/>
          </p:cNvSpPr>
          <p:nvPr/>
        </p:nvSpPr>
        <p:spPr>
          <a:xfrm>
            <a:off x="10191750" y="3143250"/>
            <a:ext cx="1485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Recommendation · risks · gaps · sources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ADAFC31-36A8-4D00-8107-9FA73C4FC8CA}"/>
              </a:ext>
            </a:extLst>
          </p:cNvPr>
          <p:cNvSpPr>
            <a:spLocks noGrp="1"/>
          </p:cNvSpPr>
          <p:nvPr/>
        </p:nvSpPr>
        <p:spPr>
          <a:xfrm>
            <a:off x="2609850" y="4248150"/>
            <a:ext cx="1752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Plan-and-Execute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E492EBB-C8B0-4E70-BAD1-458A5C1C698A}"/>
              </a:ext>
            </a:extLst>
          </p:cNvPr>
          <p:cNvSpPr>
            <a:spLocks noGrp="1"/>
          </p:cNvSpPr>
          <p:nvPr/>
        </p:nvSpPr>
        <p:spPr>
          <a:xfrm>
            <a:off x="5219700" y="5086350"/>
            <a:ext cx="1771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Bounded ReAct loops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0A8DAA-77BC-4BF3-A8C1-71C725C2C3F3}"/>
              </a:ext>
            </a:extLst>
          </p:cNvPr>
          <p:cNvSpPr>
            <a:spLocks noGrp="1"/>
          </p:cNvSpPr>
          <p:nvPr/>
        </p:nvSpPr>
        <p:spPr>
          <a:xfrm>
            <a:off x="2876550" y="5848350"/>
            <a:ext cx="647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Judgements stay with agents; reproducible arithmetic stays in tools.</a:t>
            </a:r>
          </a:p>
        </p:txBody>
      </p:sp>
    </p:spTree>
    <p:extLst>
      <p:ext uri="{BB962C8B-B14F-4D97-AF65-F5344CB8AC3E}">
        <p14:creationId xmlns:p14="http://schemas.microsoft.com/office/powerpoint/2010/main" val="170914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535B50F3-56CB-45FD-96F4-4E7876C8830C}"/>
              </a:ext>
            </a:extLst>
          </p:cNvPr>
          <p:cNvSpPr>
            <a:spLocks noGrp="1"/>
          </p:cNvSpPr>
          <p:nvPr/>
        </p:nvSpPr>
        <p:spPr>
          <a:xfrm>
            <a:off x="438150" y="323850"/>
            <a:ext cx="110966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Clear authority boundaries keep the evaluation auditable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BF5156-8F4C-47A0-A838-A869D62C161F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113157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5CD115-9D28-4491-B5AF-40CF5664D40F}"/>
              </a:ext>
            </a:extLst>
          </p:cNvPr>
          <p:cNvSpPr>
            <a:spLocks noGrp="1"/>
          </p:cNvSpPr>
          <p:nvPr/>
        </p:nvSpPr>
        <p:spPr>
          <a:xfrm>
            <a:off x="11220450" y="640080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4E1658-520C-4EC5-8B0E-95A14FBD0E0C}"/>
              </a:ext>
            </a:extLst>
          </p:cNvPr>
          <p:cNvSpPr>
            <a:spLocks noGrp="1"/>
          </p:cNvSpPr>
          <p:nvPr/>
        </p:nvSpPr>
        <p:spPr>
          <a:xfrm>
            <a:off x="457200" y="148590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29D288-EDB9-4DF7-A6A3-EB9ABCFA7C91}"/>
              </a:ext>
            </a:extLst>
          </p:cNvPr>
          <p:cNvSpPr>
            <a:spLocks noGrp="1"/>
          </p:cNvSpPr>
          <p:nvPr/>
        </p:nvSpPr>
        <p:spPr>
          <a:xfrm>
            <a:off x="914400" y="14668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Supervisor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D6B9ED-FFA8-49B1-975B-0DEA1C484B56}"/>
              </a:ext>
            </a:extLst>
          </p:cNvPr>
          <p:cNvSpPr>
            <a:spLocks noGrp="1"/>
          </p:cNvSpPr>
          <p:nvPr/>
        </p:nvSpPr>
        <p:spPr>
          <a:xfrm>
            <a:off x="457200" y="1924050"/>
            <a:ext cx="52197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2AFC40-BB10-402C-9896-8638FA7A9607}"/>
              </a:ext>
            </a:extLst>
          </p:cNvPr>
          <p:cNvSpPr>
            <a:spLocks noGrp="1"/>
          </p:cNvSpPr>
          <p:nvPr/>
        </p:nvSpPr>
        <p:spPr>
          <a:xfrm>
            <a:off x="457200" y="2076450"/>
            <a:ext cx="5219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Owns the complete case and decides the next valid step.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4B0A25-13A3-4FCE-91E5-A143D22168C9}"/>
              </a:ext>
            </a:extLst>
          </p:cNvPr>
          <p:cNvSpPr>
            <a:spLocks noGrp="1"/>
          </p:cNvSpPr>
          <p:nvPr/>
        </p:nvSpPr>
        <p:spPr>
          <a:xfrm>
            <a:off x="457200" y="2571750"/>
            <a:ext cx="5219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Plans, routes, checks prerequisites, applies stopping bounds, and combines specialist findings.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7DF2B9-292C-48DC-8766-B8CF83DBB2C8}"/>
              </a:ext>
            </a:extLst>
          </p:cNvPr>
          <p:cNvSpPr>
            <a:spLocks noGrp="1"/>
          </p:cNvSpPr>
          <p:nvPr/>
        </p:nvSpPr>
        <p:spPr>
          <a:xfrm>
            <a:off x="457200" y="3219450"/>
            <a:ext cx="5219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OUTPUT · SupervisorPlan → RouteDecision → FinalReport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5E4E87-45F9-4121-BD61-156D69627783}"/>
              </a:ext>
            </a:extLst>
          </p:cNvPr>
          <p:cNvSpPr>
            <a:spLocks noGrp="1"/>
          </p:cNvSpPr>
          <p:nvPr/>
        </p:nvSpPr>
        <p:spPr>
          <a:xfrm>
            <a:off x="6343650" y="148590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341B76-DB27-4482-A621-3AB82C2648D4}"/>
              </a:ext>
            </a:extLst>
          </p:cNvPr>
          <p:cNvSpPr>
            <a:spLocks noGrp="1"/>
          </p:cNvSpPr>
          <p:nvPr/>
        </p:nvSpPr>
        <p:spPr>
          <a:xfrm>
            <a:off x="6800850" y="14668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Requirement Specialist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D73E1D-E960-4B8A-89E5-56A087D7B566}"/>
              </a:ext>
            </a:extLst>
          </p:cNvPr>
          <p:cNvSpPr>
            <a:spLocks noGrp="1"/>
          </p:cNvSpPr>
          <p:nvPr/>
        </p:nvSpPr>
        <p:spPr>
          <a:xfrm>
            <a:off x="6343650" y="1924050"/>
            <a:ext cx="52197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44BAD7-C8C0-4DEC-AD3D-10D9944E83F5}"/>
              </a:ext>
            </a:extLst>
          </p:cNvPr>
          <p:cNvSpPr>
            <a:spLocks noGrp="1"/>
          </p:cNvSpPr>
          <p:nvPr/>
        </p:nvSpPr>
        <p:spPr>
          <a:xfrm>
            <a:off x="6343650" y="2076450"/>
            <a:ext cx="5219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Interprets the tender without access to supplier bids.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3BD16F-55A1-4C99-BF8A-04509243FE7B}"/>
              </a:ext>
            </a:extLst>
          </p:cNvPr>
          <p:cNvSpPr>
            <a:spLocks noGrp="1"/>
          </p:cNvSpPr>
          <p:nvPr/>
        </p:nvSpPr>
        <p:spPr>
          <a:xfrm>
            <a:off x="6343650" y="2571750"/>
            <a:ext cx="5219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Retrieves mandatory requirements, scored criteria, weights, and source sections.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677F2B-3EAA-4088-954B-E3F5138669F5}"/>
              </a:ext>
            </a:extLst>
          </p:cNvPr>
          <p:cNvSpPr>
            <a:spLocks noGrp="1"/>
          </p:cNvSpPr>
          <p:nvPr/>
        </p:nvSpPr>
        <p:spPr>
          <a:xfrm>
            <a:off x="6343650" y="3219450"/>
            <a:ext cx="5219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OUTPUT · RequirementSet with weights summing to 100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091541-0CF5-48A4-81C5-46AD5EEAD54B}"/>
              </a:ext>
            </a:extLst>
          </p:cNvPr>
          <p:cNvSpPr>
            <a:spLocks noGrp="1"/>
          </p:cNvSpPr>
          <p:nvPr/>
        </p:nvSpPr>
        <p:spPr>
          <a:xfrm>
            <a:off x="457200" y="390525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1F7A4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7A4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A46242-492B-4564-9D0E-A274860E1172}"/>
              </a:ext>
            </a:extLst>
          </p:cNvPr>
          <p:cNvSpPr>
            <a:spLocks noGrp="1"/>
          </p:cNvSpPr>
          <p:nvPr/>
        </p:nvSpPr>
        <p:spPr>
          <a:xfrm>
            <a:off x="914400" y="38862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Evidence Specialist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F6DE75-4AD9-42DC-A1B9-AEAE438E4C88}"/>
              </a:ext>
            </a:extLst>
          </p:cNvPr>
          <p:cNvSpPr>
            <a:spLocks noGrp="1"/>
          </p:cNvSpPr>
          <p:nvPr/>
        </p:nvSpPr>
        <p:spPr>
          <a:xfrm>
            <a:off x="457200" y="4343400"/>
            <a:ext cx="52197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6E4207-2384-49D7-B0E4-DFD0F6BBF79B}"/>
              </a:ext>
            </a:extLst>
          </p:cNvPr>
          <p:cNvSpPr>
            <a:spLocks noGrp="1"/>
          </p:cNvSpPr>
          <p:nvPr/>
        </p:nvSpPr>
        <p:spPr>
          <a:xfrm>
            <a:off x="457200" y="4495800"/>
            <a:ext cx="5219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Audits each supplier against each extracted requirement.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298AA4-3794-465D-A4FF-67DDBAF2E733}"/>
              </a:ext>
            </a:extLst>
          </p:cNvPr>
          <p:cNvSpPr>
            <a:spLocks noGrp="1"/>
          </p:cNvSpPr>
          <p:nvPr/>
        </p:nvSpPr>
        <p:spPr>
          <a:xfrm>
            <a:off x="457200" y="4991100"/>
            <a:ext cx="5219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Retrieves bid and guidance passages, quotes evidence, assigns status, and builds the matrix.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0E80AB-AA2E-4631-BF59-32DC3113FCAC}"/>
              </a:ext>
            </a:extLst>
          </p:cNvPr>
          <p:cNvSpPr>
            <a:spLocks noGrp="1"/>
          </p:cNvSpPr>
          <p:nvPr/>
        </p:nvSpPr>
        <p:spPr>
          <a:xfrm>
            <a:off x="457200" y="5638800"/>
            <a:ext cx="5219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F7A4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F7A4D"/>
                </a:solidFill>
                <a:latin typeface="Arial"/>
                <a:ea typeface="Arial"/>
                <a:cs typeface="Arial"/>
              </a:rPr>
              <a:t>OUTPUT · EvidenceReport + compliance matrix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1D7FE4-F6EB-4F47-80D2-1E56D61418F1}"/>
              </a:ext>
            </a:extLst>
          </p:cNvPr>
          <p:cNvSpPr>
            <a:spLocks noGrp="1"/>
          </p:cNvSpPr>
          <p:nvPr/>
        </p:nvSpPr>
        <p:spPr>
          <a:xfrm>
            <a:off x="6343650" y="390525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B46A1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46A1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2612A9-11DB-46F3-A62A-A1F97603AE3E}"/>
              </a:ext>
            </a:extLst>
          </p:cNvPr>
          <p:cNvSpPr>
            <a:spLocks noGrp="1"/>
          </p:cNvSpPr>
          <p:nvPr/>
        </p:nvSpPr>
        <p:spPr>
          <a:xfrm>
            <a:off x="6800850" y="38862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Comparison Specialist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7091E1-A728-4929-921B-E78440700D28}"/>
              </a:ext>
            </a:extLst>
          </p:cNvPr>
          <p:cNvSpPr>
            <a:spLocks noGrp="1"/>
          </p:cNvSpPr>
          <p:nvPr/>
        </p:nvSpPr>
        <p:spPr>
          <a:xfrm>
            <a:off x="6343650" y="4343400"/>
            <a:ext cx="52197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CF6C4AB-190B-4E89-9189-6327794F413C}"/>
              </a:ext>
            </a:extLst>
          </p:cNvPr>
          <p:cNvSpPr>
            <a:spLocks noGrp="1"/>
          </p:cNvSpPr>
          <p:nvPr/>
        </p:nvSpPr>
        <p:spPr>
          <a:xfrm>
            <a:off x="6343650" y="4495800"/>
            <a:ext cx="5219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Ranks suppliers without rewriting compliance judgements.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1390823-8BFB-4AC2-92D9-B3AF2E9A6F9C}"/>
              </a:ext>
            </a:extLst>
          </p:cNvPr>
          <p:cNvSpPr>
            <a:spLocks noGrp="1"/>
          </p:cNvSpPr>
          <p:nvPr/>
        </p:nvSpPr>
        <p:spPr>
          <a:xfrm>
            <a:off x="6343650" y="4991100"/>
            <a:ext cx="5219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Calls deterministic scoring, applies disqualification rules, and exports the comparison CSV.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BEBA825-910F-415C-8F66-4761BA11548C}"/>
              </a:ext>
            </a:extLst>
          </p:cNvPr>
          <p:cNvSpPr>
            <a:spLocks noGrp="1"/>
          </p:cNvSpPr>
          <p:nvPr/>
        </p:nvSpPr>
        <p:spPr>
          <a:xfrm>
            <a:off x="6343650" y="5638800"/>
            <a:ext cx="5219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B46A1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46A13"/>
                </a:solidFill>
                <a:latin typeface="Arial"/>
                <a:ea typeface="Arial"/>
                <a:cs typeface="Arial"/>
              </a:rPr>
              <a:t>OUTPUT · ComparisonResult + exported decision file</a:t>
            </a:r>
          </a:p>
        </p:txBody>
      </p:sp>
    </p:spTree>
    <p:extLst>
      <p:ext uri="{BB962C8B-B14F-4D97-AF65-F5344CB8AC3E}">
        <p14:creationId xmlns:p14="http://schemas.microsoft.com/office/powerpoint/2010/main" val="259559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E48FBD0-B7E3-4B9B-A255-F48A68958D8A}"/>
              </a:ext>
            </a:extLst>
          </p:cNvPr>
          <p:cNvSpPr>
            <a:spLocks noGrp="1"/>
          </p:cNvSpPr>
          <p:nvPr/>
        </p:nvSpPr>
        <p:spPr>
          <a:xfrm>
            <a:off x="438150" y="323850"/>
            <a:ext cx="110966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Evidence enters decisions with source metadata intact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B95BCF-8E35-4617-8EF1-AE07A58E5D37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113157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F70FD3-441D-49DF-B3A7-F1A4EE3EFFA0}"/>
              </a:ext>
            </a:extLst>
          </p:cNvPr>
          <p:cNvSpPr>
            <a:spLocks noGrp="1"/>
          </p:cNvSpPr>
          <p:nvPr/>
        </p:nvSpPr>
        <p:spPr>
          <a:xfrm>
            <a:off x="11220450" y="640080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6AF09F-EC79-4646-9C3E-897305C566DF}"/>
              </a:ext>
            </a:extLst>
          </p:cNvPr>
          <p:cNvSpPr>
            <a:spLocks noGrp="1"/>
          </p:cNvSpPr>
          <p:nvPr/>
        </p:nvSpPr>
        <p:spPr>
          <a:xfrm>
            <a:off x="457200" y="13906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AGENTIC RAG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A6D246-FAC3-4A5D-8D04-FEA3CB75E89C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Markdown documents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43928B-875A-4B2C-A5A2-304D75A27DBC}"/>
              </a:ext>
            </a:extLst>
          </p:cNvPr>
          <p:cNvSpPr>
            <a:spLocks noGrp="1"/>
          </p:cNvSpPr>
          <p:nvPr/>
        </p:nvSpPr>
        <p:spPr>
          <a:xfrm>
            <a:off x="457200" y="2209800"/>
            <a:ext cx="3714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→ section-aware chunks</a:t>
            </a:r>
          </a:p>
          <a:p>
            <a:pPr algn="l">
              <a:defRPr sz="14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→ local MiniLM embeddings</a:t>
            </a:r>
          </a:p>
          <a:p>
            <a:pPr algn="l">
              <a:defRPr sz="14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→ persistent Chroma collections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DA7A19-ABC5-4DD0-AFCB-2DBBFB4E9529}"/>
              </a:ext>
            </a:extLst>
          </p:cNvPr>
          <p:cNvSpPr>
            <a:spLocks noGrp="1"/>
          </p:cNvSpPr>
          <p:nvPr/>
        </p:nvSpPr>
        <p:spPr>
          <a:xfrm>
            <a:off x="457200" y="35433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1F7A4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7A4D"/>
                </a:solidFill>
                <a:latin typeface="Arial"/>
                <a:ea typeface="Arial"/>
                <a:cs typeface="Arial"/>
              </a:rPr>
              <a:t>Two scoped collections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C49A70-2916-4216-8637-335FA575E73F}"/>
              </a:ext>
            </a:extLst>
          </p:cNvPr>
          <p:cNvSpPr>
            <a:spLocks noGrp="1"/>
          </p:cNvSpPr>
          <p:nvPr/>
        </p:nvSpPr>
        <p:spPr>
          <a:xfrm>
            <a:off x="457200" y="3905250"/>
            <a:ext cx="3714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Tender knowledge and supplier bids remain separated, while each result carries file, section, and chunk ID.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52A0B0-84C7-40EB-BB58-157CB8A4F2E3}"/>
              </a:ext>
            </a:extLst>
          </p:cNvPr>
          <p:cNvSpPr>
            <a:spLocks noGrp="1"/>
          </p:cNvSpPr>
          <p:nvPr/>
        </p:nvSpPr>
        <p:spPr>
          <a:xfrm>
            <a:off x="457200" y="51054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Three memory layers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795C1A-3581-41E9-A8F7-5CC704EBB687}"/>
              </a:ext>
            </a:extLst>
          </p:cNvPr>
          <p:cNvSpPr>
            <a:spLocks noGrp="1"/>
          </p:cNvSpPr>
          <p:nvPr/>
        </p:nvSpPr>
        <p:spPr>
          <a:xfrm>
            <a:off x="457200" y="5448300"/>
            <a:ext cx="3619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TenderState · one run</a:t>
            </a:r>
          </a:p>
          <a:p>
            <a: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CaseMemory · active session</a:t>
            </a:r>
          </a:p>
          <a:p>
            <a: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Chroma · reusable knowledge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69AE30-934B-4130-94D1-83C581BB6E3F}"/>
              </a:ext>
            </a:extLst>
          </p:cNvPr>
          <p:cNvSpPr>
            <a:spLocks noGrp="1"/>
          </p:cNvSpPr>
          <p:nvPr/>
        </p:nvSpPr>
        <p:spPr>
          <a:xfrm>
            <a:off x="4505325" y="1457325"/>
            <a:ext cx="7258050" cy="461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14850" y="1815251"/>
            <a:ext cx="7239000" cy="389424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5A1E5D2-4037-4D8A-A664-D55C4CEEC19E}"/>
              </a:ext>
            </a:extLst>
          </p:cNvPr>
          <p:cNvSpPr>
            <a:spLocks noGrp="1"/>
          </p:cNvSpPr>
          <p:nvPr/>
        </p:nvSpPr>
        <p:spPr>
          <a:xfrm>
            <a:off x="5600700" y="6153150"/>
            <a:ext cx="6153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The Evidence Trail exposes the same metadata used by the agents.</a:t>
            </a:r>
          </a:p>
        </p:txBody>
      </p:sp>
    </p:spTree>
    <p:extLst>
      <p:ext uri="{BB962C8B-B14F-4D97-AF65-F5344CB8AC3E}">
        <p14:creationId xmlns:p14="http://schemas.microsoft.com/office/powerpoint/2010/main" val="563806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92766B3-056C-4D05-A04A-F8B30F302D1C}"/>
              </a:ext>
            </a:extLst>
          </p:cNvPr>
          <p:cNvSpPr>
            <a:spLocks noGrp="1"/>
          </p:cNvSpPr>
          <p:nvPr/>
        </p:nvSpPr>
        <p:spPr>
          <a:xfrm>
            <a:off x="438150" y="323850"/>
            <a:ext cx="110966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Agents judge; deterministic tools calculate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EE19F1-641B-49CE-AEEC-935D034063FD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113157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AB5826-CA1B-4CA9-B39A-D59568B41F22}"/>
              </a:ext>
            </a:extLst>
          </p:cNvPr>
          <p:cNvSpPr>
            <a:spLocks noGrp="1"/>
          </p:cNvSpPr>
          <p:nvPr/>
        </p:nvSpPr>
        <p:spPr>
          <a:xfrm>
            <a:off x="11220450" y="640080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29D467-2D57-4143-AFA3-ABB9176B462D}"/>
              </a:ext>
            </a:extLst>
          </p:cNvPr>
          <p:cNvSpPr>
            <a:spLocks noGrp="1"/>
          </p:cNvSpPr>
          <p:nvPr/>
        </p:nvSpPr>
        <p:spPr>
          <a:xfrm>
            <a:off x="457200" y="15430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E8783E-5F89-4751-8B64-A131BA95387E}"/>
              </a:ext>
            </a:extLst>
          </p:cNvPr>
          <p:cNvSpPr>
            <a:spLocks noGrp="1"/>
          </p:cNvSpPr>
          <p:nvPr/>
        </p:nvSpPr>
        <p:spPr>
          <a:xfrm>
            <a:off x="971550" y="152400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build_compliance_matrix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7A3425-E10C-49BE-B692-6439C37FFD06}"/>
              </a:ext>
            </a:extLst>
          </p:cNvPr>
          <p:cNvSpPr>
            <a:spLocks noGrp="1"/>
          </p:cNvSpPr>
          <p:nvPr/>
        </p:nvSpPr>
        <p:spPr>
          <a:xfrm>
            <a:off x="971550" y="1924050"/>
            <a:ext cx="4095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Creates requirement × supplier status, missing mandatory items, and disqualification flags.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52761C-B7DB-435A-9300-734EE41A9C49}"/>
              </a:ext>
            </a:extLst>
          </p:cNvPr>
          <p:cNvSpPr>
            <a:spLocks noGrp="1"/>
          </p:cNvSpPr>
          <p:nvPr/>
        </p:nvSpPr>
        <p:spPr>
          <a:xfrm>
            <a:off x="457200" y="2571750"/>
            <a:ext cx="44196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4CDE28-7438-4286-8DF2-ADDECD1FC4BA}"/>
              </a:ext>
            </a:extLst>
          </p:cNvPr>
          <p:cNvSpPr>
            <a:spLocks noGrp="1"/>
          </p:cNvSpPr>
          <p:nvPr/>
        </p:nvSpPr>
        <p:spPr>
          <a:xfrm>
            <a:off x="457200" y="27241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443A07-ACC7-4CE4-8D39-D6F8DF401522}"/>
              </a:ext>
            </a:extLst>
          </p:cNvPr>
          <p:cNvSpPr>
            <a:spLocks noGrp="1"/>
          </p:cNvSpPr>
          <p:nvPr/>
        </p:nvSpPr>
        <p:spPr>
          <a:xfrm>
            <a:off x="971550" y="270510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calculate_weighted_score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0BF668-F1E0-41B6-975E-D9DDCDECBF7B}"/>
              </a:ext>
            </a:extLst>
          </p:cNvPr>
          <p:cNvSpPr>
            <a:spLocks noGrp="1"/>
          </p:cNvSpPr>
          <p:nvPr/>
        </p:nvSpPr>
        <p:spPr>
          <a:xfrm>
            <a:off x="971550" y="3105150"/>
            <a:ext cx="4095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Validates weights and scores, calculates totals, applies tie-breaks, and ranks suppliers.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405A70-83CF-4F7A-B931-BD44186AA08B}"/>
              </a:ext>
            </a:extLst>
          </p:cNvPr>
          <p:cNvSpPr>
            <a:spLocks noGrp="1"/>
          </p:cNvSpPr>
          <p:nvPr/>
        </p:nvSpPr>
        <p:spPr>
          <a:xfrm>
            <a:off x="457200" y="3752850"/>
            <a:ext cx="44196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262EE9-E882-4AC1-A1BB-DD0D1CDBACD8}"/>
              </a:ext>
            </a:extLst>
          </p:cNvPr>
          <p:cNvSpPr>
            <a:spLocks noGrp="1"/>
          </p:cNvSpPr>
          <p:nvPr/>
        </p:nvSpPr>
        <p:spPr>
          <a:xfrm>
            <a:off x="457200" y="39052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035D9B-3984-466E-8A95-E4B69E54C089}"/>
              </a:ext>
            </a:extLst>
          </p:cNvPr>
          <p:cNvSpPr>
            <a:spLocks noGrp="1"/>
          </p:cNvSpPr>
          <p:nvPr/>
        </p:nvSpPr>
        <p:spPr>
          <a:xfrm>
            <a:off x="971550" y="388620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export_comparison_csv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B36E-DF72-4F36-8502-EDA17D8BE9FB}"/>
              </a:ext>
            </a:extLst>
          </p:cNvPr>
          <p:cNvSpPr>
            <a:spLocks noGrp="1"/>
          </p:cNvSpPr>
          <p:nvPr/>
        </p:nvSpPr>
        <p:spPr>
          <a:xfrm>
            <a:off x="971550" y="4286250"/>
            <a:ext cx="4095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Exports matrix, gaps, scores, evidence, and recommendation in a reviewable file.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214FB8-B1CD-4D87-A87A-D8D37F1C9523}"/>
              </a:ext>
            </a:extLst>
          </p:cNvPr>
          <p:cNvSpPr>
            <a:spLocks noGrp="1"/>
          </p:cNvSpPr>
          <p:nvPr/>
        </p:nvSpPr>
        <p:spPr>
          <a:xfrm>
            <a:off x="5381625" y="1419225"/>
            <a:ext cx="6381750" cy="40576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36773" y="1428750"/>
            <a:ext cx="6271454" cy="40386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02C82FB-95F8-4675-B142-C035AAAA973A}"/>
              </a:ext>
            </a:extLst>
          </p:cNvPr>
          <p:cNvSpPr>
            <a:spLocks noGrp="1"/>
          </p:cNvSpPr>
          <p:nvPr/>
        </p:nvSpPr>
        <p:spPr>
          <a:xfrm>
            <a:off x="457200" y="5772150"/>
            <a:ext cx="1129665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57F791-C484-45F5-ADBB-B31888908593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Pydantic validation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03B664-E84F-4558-A0F0-07EA8B03B959}"/>
              </a:ext>
            </a:extLst>
          </p:cNvPr>
          <p:cNvSpPr>
            <a:spLocks noGrp="1"/>
          </p:cNvSpPr>
          <p:nvPr/>
        </p:nvSpPr>
        <p:spPr>
          <a:xfrm>
            <a:off x="3162300" y="590550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Structured tool errors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ABA72B-292A-485F-B7C1-9F3C05478A36}"/>
              </a:ext>
            </a:extLst>
          </p:cNvPr>
          <p:cNvSpPr>
            <a:spLocks noGrp="1"/>
          </p:cNvSpPr>
          <p:nvPr/>
        </p:nvSpPr>
        <p:spPr>
          <a:xfrm>
            <a:off x="5905500" y="5905500"/>
            <a:ext cx="1847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Bounded agent loops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67C53C-FE2A-43B1-9CF1-A62BD897DA32}"/>
              </a:ext>
            </a:extLst>
          </p:cNvPr>
          <p:cNvSpPr>
            <a:spLocks noGrp="1"/>
          </p:cNvSpPr>
          <p:nvPr/>
        </p:nvSpPr>
        <p:spPr>
          <a:xfrm>
            <a:off x="8591550" y="59055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No fabricated success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44AA9D-14B2-485B-A1EB-1AC9EEC95E9F}"/>
              </a:ext>
            </a:extLst>
          </p:cNvPr>
          <p:cNvSpPr>
            <a:spLocks noGrp="1"/>
          </p:cNvSpPr>
          <p:nvPr/>
        </p:nvSpPr>
        <p:spPr>
          <a:xfrm>
            <a:off x="457200" y="6343650"/>
            <a:ext cx="933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Python · LangGraph · Gemini/Claude · Chroma · Pydantic · Streamlit · Altair</a:t>
            </a:r>
          </a:p>
        </p:txBody>
      </p:sp>
    </p:spTree>
    <p:extLst>
      <p:ext uri="{BB962C8B-B14F-4D97-AF65-F5344CB8AC3E}">
        <p14:creationId xmlns:p14="http://schemas.microsoft.com/office/powerpoint/2010/main" val="1821720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526C72F-9F1B-48A3-90A5-6D96A6811696}"/>
              </a:ext>
            </a:extLst>
          </p:cNvPr>
          <p:cNvSpPr>
            <a:spLocks noGrp="1"/>
          </p:cNvSpPr>
          <p:nvPr/>
        </p:nvSpPr>
        <p:spPr>
          <a:xfrm>
            <a:off x="438150" y="323850"/>
            <a:ext cx="110966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application exposes every important workflow stage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88A0B7-908E-4D94-8104-1545C2ECBA11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113157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3F980E-EC15-4039-B088-F4D16732EDB5}"/>
              </a:ext>
            </a:extLst>
          </p:cNvPr>
          <p:cNvSpPr>
            <a:spLocks noGrp="1"/>
          </p:cNvSpPr>
          <p:nvPr/>
        </p:nvSpPr>
        <p:spPr>
          <a:xfrm>
            <a:off x="11220450" y="640080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FC9D72-10EE-4E61-AF8D-0AC876F0762A}"/>
              </a:ext>
            </a:extLst>
          </p:cNvPr>
          <p:cNvSpPr>
            <a:spLocks noGrp="1"/>
          </p:cNvSpPr>
          <p:nvPr/>
        </p:nvSpPr>
        <p:spPr>
          <a:xfrm>
            <a:off x="409575" y="1381125"/>
            <a:ext cx="7505700" cy="438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19100" y="1790282"/>
            <a:ext cx="7486650" cy="356318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A21D8E9-FDB4-4702-9C66-E3ACF7886C97}"/>
              </a:ext>
            </a:extLst>
          </p:cNvPr>
          <p:cNvSpPr>
            <a:spLocks noGrp="1"/>
          </p:cNvSpPr>
          <p:nvPr/>
        </p:nvSpPr>
        <p:spPr>
          <a:xfrm>
            <a:off x="8382000" y="15049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63D6FE-2B88-48FC-959F-19D670F84DE8}"/>
              </a:ext>
            </a:extLst>
          </p:cNvPr>
          <p:cNvSpPr>
            <a:spLocks noGrp="1"/>
          </p:cNvSpPr>
          <p:nvPr/>
        </p:nvSpPr>
        <p:spPr>
          <a:xfrm>
            <a:off x="8858250" y="1485900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Select the tender and suppliers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C3EF2D-DA75-4973-9057-6225D5BA16B6}"/>
              </a:ext>
            </a:extLst>
          </p:cNvPr>
          <p:cNvSpPr>
            <a:spLocks noGrp="1"/>
          </p:cNvSpPr>
          <p:nvPr/>
        </p:nvSpPr>
        <p:spPr>
          <a:xfrm>
            <a:off x="8382000" y="2171700"/>
            <a:ext cx="314325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1F5A03-980E-41D7-9547-10FFB1AF7AB8}"/>
              </a:ext>
            </a:extLst>
          </p:cNvPr>
          <p:cNvSpPr>
            <a:spLocks noGrp="1"/>
          </p:cNvSpPr>
          <p:nvPr/>
        </p:nvSpPr>
        <p:spPr>
          <a:xfrm>
            <a:off x="8382000" y="25146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155C25-B274-4869-A75D-2A4B42B7CBD8}"/>
              </a:ext>
            </a:extLst>
          </p:cNvPr>
          <p:cNvSpPr>
            <a:spLocks noGrp="1"/>
          </p:cNvSpPr>
          <p:nvPr/>
        </p:nvSpPr>
        <p:spPr>
          <a:xfrm>
            <a:off x="8858250" y="2495550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Add evaluation emphasis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27CA71-9017-497C-AF68-EF82F22CE938}"/>
              </a:ext>
            </a:extLst>
          </p:cNvPr>
          <p:cNvSpPr>
            <a:spLocks noGrp="1"/>
          </p:cNvSpPr>
          <p:nvPr/>
        </p:nvSpPr>
        <p:spPr>
          <a:xfrm>
            <a:off x="8382000" y="3181350"/>
            <a:ext cx="314325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5A9485-52EF-4C9C-99C7-8D16B1429CF9}"/>
              </a:ext>
            </a:extLst>
          </p:cNvPr>
          <p:cNvSpPr>
            <a:spLocks noGrp="1"/>
          </p:cNvSpPr>
          <p:nvPr/>
        </p:nvSpPr>
        <p:spPr>
          <a:xfrm>
            <a:off x="8382000" y="35242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945BA0-2704-4414-A6C6-909D1BC08CBA}"/>
              </a:ext>
            </a:extLst>
          </p:cNvPr>
          <p:cNvSpPr>
            <a:spLocks noGrp="1"/>
          </p:cNvSpPr>
          <p:nvPr/>
        </p:nvSpPr>
        <p:spPr>
          <a:xfrm>
            <a:off x="8858250" y="3505200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Watch routing, evidence, and tools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2EF8F1-36A1-4A3C-B17F-674C1D7B27BE}"/>
              </a:ext>
            </a:extLst>
          </p:cNvPr>
          <p:cNvSpPr>
            <a:spLocks noGrp="1"/>
          </p:cNvSpPr>
          <p:nvPr/>
        </p:nvSpPr>
        <p:spPr>
          <a:xfrm>
            <a:off x="8382000" y="4191000"/>
            <a:ext cx="314325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EE052B-001A-404B-9021-A40CF048D14C}"/>
              </a:ext>
            </a:extLst>
          </p:cNvPr>
          <p:cNvSpPr>
            <a:spLocks noGrp="1"/>
          </p:cNvSpPr>
          <p:nvPr/>
        </p:nvSpPr>
        <p:spPr>
          <a:xfrm>
            <a:off x="8382000" y="45339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6268D4-F733-432A-A608-6941D1405227}"/>
              </a:ext>
            </a:extLst>
          </p:cNvPr>
          <p:cNvSpPr>
            <a:spLocks noGrp="1"/>
          </p:cNvSpPr>
          <p:nvPr/>
        </p:nvSpPr>
        <p:spPr>
          <a:xfrm>
            <a:off x="8858250" y="4514850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Review matrix, ranking, sources, and CSV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CF22D7-89E0-4540-961A-CE42E027D268}"/>
              </a:ext>
            </a:extLst>
          </p:cNvPr>
          <p:cNvSpPr>
            <a:spLocks noGrp="1"/>
          </p:cNvSpPr>
          <p:nvPr/>
        </p:nvSpPr>
        <p:spPr>
          <a:xfrm>
            <a:off x="419100" y="5943600"/>
            <a:ext cx="11125200" cy="400050"/>
          </a:xfrm>
          <a:prstGeom prst="rect">
            <a:avLst/>
          </a:prstGeom>
          <a:solidFill>
            <a:srgbClr val="EAF5FB"/>
          </a:solidFill>
          <a:ln w="9525">
            <a:solidFill>
              <a:srgbClr val="D9EF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7145F6-F4BC-4E32-8CBD-C359AB13CFA7}"/>
              </a:ext>
            </a:extLst>
          </p:cNvPr>
          <p:cNvSpPr>
            <a:spLocks noGrp="1"/>
          </p:cNvSpPr>
          <p:nvPr/>
        </p:nvSpPr>
        <p:spPr>
          <a:xfrm>
            <a:off x="647700" y="6048375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Case Q&amp;A continues from session memory without rerunning the full evaluation.</a:t>
            </a:r>
          </a:p>
        </p:txBody>
      </p:sp>
    </p:spTree>
    <p:extLst>
      <p:ext uri="{BB962C8B-B14F-4D97-AF65-F5344CB8AC3E}">
        <p14:creationId xmlns:p14="http://schemas.microsoft.com/office/powerpoint/2010/main" val="423531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B3E3D1-EB51-4086-9613-72A5F1E4C725}"/>
              </a:ext>
            </a:extLst>
          </p:cNvPr>
          <p:cNvSpPr>
            <a:spLocks noGrp="1"/>
          </p:cNvSpPr>
          <p:nvPr/>
        </p:nvSpPr>
        <p:spPr>
          <a:xfrm>
            <a:off x="438150" y="323850"/>
            <a:ext cx="110966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AlphaTech wins on compliance—not price alone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E6C416-5BAA-4EAE-B3DF-9E23EDEB28A0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113157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12499C-F49A-4C40-92AF-77A61CBFCDC5}"/>
              </a:ext>
            </a:extLst>
          </p:cNvPr>
          <p:cNvSpPr>
            <a:spLocks noGrp="1"/>
          </p:cNvSpPr>
          <p:nvPr/>
        </p:nvSpPr>
        <p:spPr>
          <a:xfrm>
            <a:off x="11220450" y="640080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="400050" y="1524000"/>
          <a:ext cx="6572250" cy="40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905266A-29AC-44F3-B773-D36D20049747}"/>
              </a:ext>
            </a:extLst>
          </p:cNvPr>
          <p:cNvSpPr>
            <a:spLocks noGrp="1"/>
          </p:cNvSpPr>
          <p:nvPr/>
        </p:nvSpPr>
        <p:spPr>
          <a:xfrm>
            <a:off x="7486650" y="1428750"/>
            <a:ext cx="4267200" cy="1219200"/>
          </a:xfrm>
          <a:prstGeom prst="rect">
            <a:avLst/>
          </a:prstGeom>
          <a:solidFill>
            <a:srgbClr val="EAF5FB"/>
          </a:solidFill>
          <a:ln w="9525">
            <a:solidFill>
              <a:srgbClr val="D9EF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8AA040-4F97-4795-BA31-5738F334D5D9}"/>
              </a:ext>
            </a:extLst>
          </p:cNvPr>
          <p:cNvSpPr>
            <a:spLocks noGrp="1"/>
          </p:cNvSpPr>
          <p:nvPr/>
        </p:nvSpPr>
        <p:spPr>
          <a:xfrm>
            <a:off x="7715250" y="16192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1st · 91.25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1840D7-86C7-4D2B-BEE0-FE4DEEC6B166}"/>
              </a:ext>
            </a:extLst>
          </p:cNvPr>
          <p:cNvSpPr>
            <a:spLocks noGrp="1"/>
          </p:cNvSpPr>
          <p:nvPr/>
        </p:nvSpPr>
        <p:spPr>
          <a:xfrm>
            <a:off x="7715250" y="1943100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AlphaTech Networks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5B4673-34D5-47C8-8C4F-A23A1978D10B}"/>
              </a:ext>
            </a:extLst>
          </p:cNvPr>
          <p:cNvSpPr>
            <a:spLocks noGrp="1"/>
          </p:cNvSpPr>
          <p:nvPr/>
        </p:nvSpPr>
        <p:spPr>
          <a:xfrm>
            <a:off x="7715250" y="230505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Passes all mandatory requirements; 48-month warranty.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BEA758-6755-48AD-B623-EDB40F6BD8B4}"/>
              </a:ext>
            </a:extLst>
          </p:cNvPr>
          <p:cNvSpPr>
            <a:spLocks noGrp="1"/>
          </p:cNvSpPr>
          <p:nvPr/>
        </p:nvSpPr>
        <p:spPr>
          <a:xfrm>
            <a:off x="7486650" y="2857500"/>
            <a:ext cx="4267200" cy="1219200"/>
          </a:xfrm>
          <a:prstGeom prst="rect">
            <a:avLst/>
          </a:prstGeom>
          <a:solidFill>
            <a:srgbClr val="EAF7EF"/>
          </a:solidFill>
          <a:ln w="9525">
            <a:solidFill>
              <a:srgbClr val="CBE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61329E-4C5D-4F3A-97C6-F1E1230A4537}"/>
              </a:ext>
            </a:extLst>
          </p:cNvPr>
          <p:cNvSpPr>
            <a:spLocks noGrp="1"/>
          </p:cNvSpPr>
          <p:nvPr/>
        </p:nvSpPr>
        <p:spPr>
          <a:xfrm>
            <a:off x="7715250" y="30480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1F7A4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7A4D"/>
                </a:solidFill>
                <a:latin typeface="Arial"/>
                <a:ea typeface="Arial"/>
                <a:cs typeface="Arial"/>
              </a:rPr>
              <a:t>2nd · 85.58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F5DF26-413F-4D31-B6F4-D669A3F80F0E}"/>
              </a:ext>
            </a:extLst>
          </p:cNvPr>
          <p:cNvSpPr>
            <a:spLocks noGrp="1"/>
          </p:cNvSpPr>
          <p:nvPr/>
        </p:nvSpPr>
        <p:spPr>
          <a:xfrm>
            <a:off x="7715250" y="337185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GammaWave Technologies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682BEA-0CA6-4B46-82E1-4FF59D5A5FFD}"/>
              </a:ext>
            </a:extLst>
          </p:cNvPr>
          <p:cNvSpPr>
            <a:spLocks noGrp="1"/>
          </p:cNvSpPr>
          <p:nvPr/>
        </p:nvSpPr>
        <p:spPr>
          <a:xfrm>
            <a:off x="7715250" y="373380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Qualified; project-team CV evidence needs review.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5B4DC7-F0DB-45ED-ABF4-992B1602A35E}"/>
              </a:ext>
            </a:extLst>
          </p:cNvPr>
          <p:cNvSpPr>
            <a:spLocks noGrp="1"/>
          </p:cNvSpPr>
          <p:nvPr/>
        </p:nvSpPr>
        <p:spPr>
          <a:xfrm>
            <a:off x="7486650" y="4286250"/>
            <a:ext cx="4267200" cy="1219200"/>
          </a:xfrm>
          <a:prstGeom prst="rect">
            <a:avLst/>
          </a:prstGeom>
          <a:solidFill>
            <a:srgbClr val="FDECEE"/>
          </a:solidFill>
          <a:ln w="9525">
            <a:solidFill>
              <a:srgbClr val="F3C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32E6FF-BC6C-4BE7-8B8B-61A37EBC7262}"/>
              </a:ext>
            </a:extLst>
          </p:cNvPr>
          <p:cNvSpPr>
            <a:spLocks noGrp="1"/>
          </p:cNvSpPr>
          <p:nvPr/>
        </p:nvSpPr>
        <p:spPr>
          <a:xfrm>
            <a:off x="7715250" y="44767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C73E4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73E4D"/>
                </a:solidFill>
                <a:latin typeface="Arial"/>
                <a:ea typeface="Arial"/>
                <a:cs typeface="Arial"/>
              </a:rPr>
              <a:t>DQ · 51.00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2D4803-54CD-4FEA-95FB-6B90A122E830}"/>
              </a:ext>
            </a:extLst>
          </p:cNvPr>
          <p:cNvSpPr>
            <a:spLocks noGrp="1"/>
          </p:cNvSpPr>
          <p:nvPr/>
        </p:nvSpPr>
        <p:spPr>
          <a:xfrm>
            <a:off x="7715250" y="48006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BetaGrid Solutions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4D0742-71F6-4898-8F62-C0E6B3E114F2}"/>
              </a:ext>
            </a:extLst>
          </p:cNvPr>
          <p:cNvSpPr>
            <a:spLocks noGrp="1"/>
          </p:cNvSpPr>
          <p:nvPr/>
        </p:nvSpPr>
        <p:spPr>
          <a:xfrm>
            <a:off x="7715250" y="516255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SAR 6.2M; mandatory failures: M1 / M2 / M4 / M5.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6F9B0C-6B13-4958-B1CF-05A123B90CF7}"/>
              </a:ext>
            </a:extLst>
          </p:cNvPr>
          <p:cNvSpPr>
            <a:spLocks noGrp="1"/>
          </p:cNvSpPr>
          <p:nvPr/>
        </p:nvSpPr>
        <p:spPr>
          <a:xfrm>
            <a:off x="476250" y="5962650"/>
            <a:ext cx="1095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67085"/>
                </a:solidFill>
                <a:latin typeface="Arial"/>
                <a:ea typeface="Arial"/>
                <a:cs typeface="Arial"/>
              </a:rPr>
              <a:t>Run-specific LLM scores may vary slightly; weighting arithmetic and disqualification rules are deterministic.</a:t>
            </a:r>
          </a:p>
        </p:txBody>
      </p:sp>
    </p:spTree>
    <p:extLst>
      <p:ext uri="{BB962C8B-B14F-4D97-AF65-F5344CB8AC3E}">
        <p14:creationId xmlns:p14="http://schemas.microsoft.com/office/powerpoint/2010/main" val="1708525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383FCCC-DC5D-4E7B-8927-538F695E0206}"/>
              </a:ext>
            </a:extLst>
          </p:cNvPr>
          <p:cNvSpPr>
            <a:spLocks noGrp="1"/>
          </p:cNvSpPr>
          <p:nvPr/>
        </p:nvSpPr>
        <p:spPr>
          <a:xfrm>
            <a:off x="438150" y="323850"/>
            <a:ext cx="110966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decision package is reviewable and exportable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1D4BA9-3C69-4CF5-B7E2-0E512DBCD7BE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113157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B2CFEC-8C4F-4772-8BF4-676EA366AA33}"/>
              </a:ext>
            </a:extLst>
          </p:cNvPr>
          <p:cNvSpPr>
            <a:spLocks noGrp="1"/>
          </p:cNvSpPr>
          <p:nvPr/>
        </p:nvSpPr>
        <p:spPr>
          <a:xfrm>
            <a:off x="11220450" y="640080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D4D0F6-BD16-4790-82B0-50BB07CE8E28}"/>
              </a:ext>
            </a:extLst>
          </p:cNvPr>
          <p:cNvSpPr>
            <a:spLocks noGrp="1"/>
          </p:cNvSpPr>
          <p:nvPr/>
        </p:nvSpPr>
        <p:spPr>
          <a:xfrm>
            <a:off x="409575" y="1343025"/>
            <a:ext cx="11353800" cy="29337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19100" y="1353518"/>
            <a:ext cx="11334750" cy="291271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448083C-251F-4A6E-A010-3D73C3487CA3}"/>
              </a:ext>
            </a:extLst>
          </p:cNvPr>
          <p:cNvSpPr>
            <a:spLocks noGrp="1"/>
          </p:cNvSpPr>
          <p:nvPr/>
        </p:nvSpPr>
        <p:spPr>
          <a:xfrm>
            <a:off x="457200" y="46482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8534A0-227F-4B01-B6C0-A7492476EAC8}"/>
              </a:ext>
            </a:extLst>
          </p:cNvPr>
          <p:cNvSpPr>
            <a:spLocks noGrp="1"/>
          </p:cNvSpPr>
          <p:nvPr/>
        </p:nvSpPr>
        <p:spPr>
          <a:xfrm>
            <a:off x="457200" y="4953000"/>
            <a:ext cx="2076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784512-46CF-4727-A8E1-7F27017A9C0C}"/>
              </a:ext>
            </a:extLst>
          </p:cNvPr>
          <p:cNvSpPr>
            <a:spLocks noGrp="1"/>
          </p:cNvSpPr>
          <p:nvPr/>
        </p:nvSpPr>
        <p:spPr>
          <a:xfrm>
            <a:off x="457200" y="5334000"/>
            <a:ext cx="207645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9A82A5-1717-4F60-9C91-29169D561627}"/>
              </a:ext>
            </a:extLst>
          </p:cNvPr>
          <p:cNvSpPr>
            <a:spLocks noGrp="1"/>
          </p:cNvSpPr>
          <p:nvPr/>
        </p:nvSpPr>
        <p:spPr>
          <a:xfrm>
            <a:off x="457200" y="5505450"/>
            <a:ext cx="2076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Qualified winner and rationale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9146C7-265C-483F-BA8F-C449A4B99C56}"/>
              </a:ext>
            </a:extLst>
          </p:cNvPr>
          <p:cNvSpPr>
            <a:spLocks noGrp="1"/>
          </p:cNvSpPr>
          <p:nvPr/>
        </p:nvSpPr>
        <p:spPr>
          <a:xfrm>
            <a:off x="2724150" y="46482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263FEB-2242-4531-9CE5-01ADE6E7DAC5}"/>
              </a:ext>
            </a:extLst>
          </p:cNvPr>
          <p:cNvSpPr>
            <a:spLocks noGrp="1"/>
          </p:cNvSpPr>
          <p:nvPr/>
        </p:nvSpPr>
        <p:spPr>
          <a:xfrm>
            <a:off x="2724150" y="4953000"/>
            <a:ext cx="2076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Risk register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C2FE5D-E453-4180-BB00-08C8B40E8EE8}"/>
              </a:ext>
            </a:extLst>
          </p:cNvPr>
          <p:cNvSpPr>
            <a:spLocks noGrp="1"/>
          </p:cNvSpPr>
          <p:nvPr/>
        </p:nvSpPr>
        <p:spPr>
          <a:xfrm>
            <a:off x="2724150" y="5334000"/>
            <a:ext cx="207645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F49BAD-8D04-4CC0-BA0E-C2C6285DF0B4}"/>
              </a:ext>
            </a:extLst>
          </p:cNvPr>
          <p:cNvSpPr>
            <a:spLocks noGrp="1"/>
          </p:cNvSpPr>
          <p:nvPr/>
        </p:nvSpPr>
        <p:spPr>
          <a:xfrm>
            <a:off x="2724150" y="5505450"/>
            <a:ext cx="2076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Material deviations and caveats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0E6F07-1CB9-4FCF-8B96-23DD7D65CC9E}"/>
              </a:ext>
            </a:extLst>
          </p:cNvPr>
          <p:cNvSpPr>
            <a:spLocks noGrp="1"/>
          </p:cNvSpPr>
          <p:nvPr/>
        </p:nvSpPr>
        <p:spPr>
          <a:xfrm>
            <a:off x="4991100" y="46482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36377B-F487-490F-A1E4-B9181C0F9BC6}"/>
              </a:ext>
            </a:extLst>
          </p:cNvPr>
          <p:cNvSpPr>
            <a:spLocks noGrp="1"/>
          </p:cNvSpPr>
          <p:nvPr/>
        </p:nvSpPr>
        <p:spPr>
          <a:xfrm>
            <a:off x="4991100" y="4953000"/>
            <a:ext cx="2076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Evidence gaps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B636AB-2989-4DFE-8103-DCF46AE8F332}"/>
              </a:ext>
            </a:extLst>
          </p:cNvPr>
          <p:cNvSpPr>
            <a:spLocks noGrp="1"/>
          </p:cNvSpPr>
          <p:nvPr/>
        </p:nvSpPr>
        <p:spPr>
          <a:xfrm>
            <a:off x="4991100" y="5334000"/>
            <a:ext cx="207645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4E220D-ECF5-485C-8486-2FDB111FB579}"/>
              </a:ext>
            </a:extLst>
          </p:cNvPr>
          <p:cNvSpPr>
            <a:spLocks noGrp="1"/>
          </p:cNvSpPr>
          <p:nvPr/>
        </p:nvSpPr>
        <p:spPr>
          <a:xfrm>
            <a:off x="4991100" y="5505450"/>
            <a:ext cx="2076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Missing or outstanding documents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DF276C-716F-48C5-9C73-A1EEDA2FBEE4}"/>
              </a:ext>
            </a:extLst>
          </p:cNvPr>
          <p:cNvSpPr>
            <a:spLocks noGrp="1"/>
          </p:cNvSpPr>
          <p:nvPr/>
        </p:nvSpPr>
        <p:spPr>
          <a:xfrm>
            <a:off x="7258050" y="46482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5434ED-F74B-4A9B-BA0E-D41B20F03572}"/>
              </a:ext>
            </a:extLst>
          </p:cNvPr>
          <p:cNvSpPr>
            <a:spLocks noGrp="1"/>
          </p:cNvSpPr>
          <p:nvPr/>
        </p:nvSpPr>
        <p:spPr>
          <a:xfrm>
            <a:off x="7258050" y="4953000"/>
            <a:ext cx="2076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980203-5528-445A-BEDD-036775B1418D}"/>
              </a:ext>
            </a:extLst>
          </p:cNvPr>
          <p:cNvSpPr>
            <a:spLocks noGrp="1"/>
          </p:cNvSpPr>
          <p:nvPr/>
        </p:nvSpPr>
        <p:spPr>
          <a:xfrm>
            <a:off x="7258050" y="5334000"/>
            <a:ext cx="207645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2B21ED-CF88-469A-B601-E60B92A87050}"/>
              </a:ext>
            </a:extLst>
          </p:cNvPr>
          <p:cNvSpPr>
            <a:spLocks noGrp="1"/>
          </p:cNvSpPr>
          <p:nvPr/>
        </p:nvSpPr>
        <p:spPr>
          <a:xfrm>
            <a:off x="7258050" y="5505450"/>
            <a:ext cx="2076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Matrix, weighted ranking, and status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B3E89D-F806-4D7B-B24A-A5BFC6C8505B}"/>
              </a:ext>
            </a:extLst>
          </p:cNvPr>
          <p:cNvSpPr>
            <a:spLocks noGrp="1"/>
          </p:cNvSpPr>
          <p:nvPr/>
        </p:nvSpPr>
        <p:spPr>
          <a:xfrm>
            <a:off x="9525000" y="46482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BDE59B-60FF-41E2-ACC4-957BD730225A}"/>
              </a:ext>
            </a:extLst>
          </p:cNvPr>
          <p:cNvSpPr>
            <a:spLocks noGrp="1"/>
          </p:cNvSpPr>
          <p:nvPr/>
        </p:nvSpPr>
        <p:spPr>
          <a:xfrm>
            <a:off x="9525000" y="4953000"/>
            <a:ext cx="2076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Export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2CB15E-B1FD-4C1D-936E-0C06E152710A}"/>
              </a:ext>
            </a:extLst>
          </p:cNvPr>
          <p:cNvSpPr>
            <a:spLocks noGrp="1"/>
          </p:cNvSpPr>
          <p:nvPr/>
        </p:nvSpPr>
        <p:spPr>
          <a:xfrm>
            <a:off x="9525000" y="5334000"/>
            <a:ext cx="207645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E52B33-CFF5-439B-8CAB-B20F21934887}"/>
              </a:ext>
            </a:extLst>
          </p:cNvPr>
          <p:cNvSpPr>
            <a:spLocks noGrp="1"/>
          </p:cNvSpPr>
          <p:nvPr/>
        </p:nvSpPr>
        <p:spPr>
          <a:xfrm>
            <a:off x="9525000" y="5505450"/>
            <a:ext cx="2076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Downloadable multi-section CSV</a:t>
            </a:r>
          </a:p>
        </p:txBody>
      </p:sp>
    </p:spTree>
    <p:extLst>
      <p:ext uri="{BB962C8B-B14F-4D97-AF65-F5344CB8AC3E}">
        <p14:creationId xmlns:p14="http://schemas.microsoft.com/office/powerpoint/2010/main" val="954583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BF573AB9-A5D2-4C64-B1B3-9E6616E744C0}"/>
              </a:ext>
            </a:extLst>
          </p:cNvPr>
          <p:cNvSpPr>
            <a:spLocks noGrp="1"/>
          </p:cNvSpPr>
          <p:nvPr/>
        </p:nvSpPr>
        <p:spPr>
          <a:xfrm>
            <a:off x="438150" y="323850"/>
            <a:ext cx="110966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Next: real documents and human approval gates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A30BB0-3F70-49B4-AB8B-FDD16A7DC772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113157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53E45D-DFB2-4030-993D-4AD4E740CE81}"/>
              </a:ext>
            </a:extLst>
          </p:cNvPr>
          <p:cNvSpPr>
            <a:spLocks noGrp="1"/>
          </p:cNvSpPr>
          <p:nvPr/>
        </p:nvSpPr>
        <p:spPr>
          <a:xfrm>
            <a:off x="11220450" y="640080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A9002F-403A-40C7-B2D4-E197D2B29965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C73E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73E4D"/>
                </a:solidFill>
                <a:latin typeface="Arial"/>
                <a:ea typeface="Arial"/>
                <a:cs typeface="Arial"/>
              </a:rPr>
              <a:t>HONEST LIMITATIONS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A02D43-9522-4D27-97A2-DA4EAD7330D2}"/>
              </a:ext>
            </a:extLst>
          </p:cNvPr>
          <p:cNvSpPr>
            <a:spLocks noGrp="1"/>
          </p:cNvSpPr>
          <p:nvPr/>
        </p:nvSpPr>
        <p:spPr>
          <a:xfrm>
            <a:off x="457200" y="1924050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C73E4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73E4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31A2EC-022B-4CC7-AEB5-284328CA1DC7}"/>
              </a:ext>
            </a:extLst>
          </p:cNvPr>
          <p:cNvSpPr>
            <a:spLocks noGrp="1"/>
          </p:cNvSpPr>
          <p:nvPr/>
        </p:nvSpPr>
        <p:spPr>
          <a:xfrm>
            <a:off x="952500" y="1885950"/>
            <a:ext cx="4476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Markdown-only ingestion; one tender and three synthetic bids.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944E80-9DD3-47C2-8CFC-B9F8671BD729}"/>
              </a:ext>
            </a:extLst>
          </p:cNvPr>
          <p:cNvSpPr>
            <a:spLocks noGrp="1"/>
          </p:cNvSpPr>
          <p:nvPr/>
        </p:nvSpPr>
        <p:spPr>
          <a:xfrm>
            <a:off x="457200" y="2628900"/>
            <a:ext cx="497205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71A930-884D-4CD8-96A8-2ED2C3B7E950}"/>
              </a:ext>
            </a:extLst>
          </p:cNvPr>
          <p:cNvSpPr>
            <a:spLocks noGrp="1"/>
          </p:cNvSpPr>
          <p:nvPr/>
        </p:nvSpPr>
        <p:spPr>
          <a:xfrm>
            <a:off x="457200" y="2914650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C73E4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73E4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A5AF9B-04EF-47E5-AF19-115580F40BFF}"/>
              </a:ext>
            </a:extLst>
          </p:cNvPr>
          <p:cNvSpPr>
            <a:spLocks noGrp="1"/>
          </p:cNvSpPr>
          <p:nvPr/>
        </p:nvSpPr>
        <p:spPr>
          <a:xfrm>
            <a:off x="952500" y="2876550"/>
            <a:ext cx="4476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Implicit evidence can be judged missing; qualitative scores may vary.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08DD13-0580-4D3D-8159-87E3B42AA2D2}"/>
              </a:ext>
            </a:extLst>
          </p:cNvPr>
          <p:cNvSpPr>
            <a:spLocks noGrp="1"/>
          </p:cNvSpPr>
          <p:nvPr/>
        </p:nvSpPr>
        <p:spPr>
          <a:xfrm>
            <a:off x="457200" y="3619500"/>
            <a:ext cx="497205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CB78DF-DEA7-4059-8895-25094BF8904B}"/>
              </a:ext>
            </a:extLst>
          </p:cNvPr>
          <p:cNvSpPr>
            <a:spLocks noGrp="1"/>
          </p:cNvSpPr>
          <p:nvPr/>
        </p:nvSpPr>
        <p:spPr>
          <a:xfrm>
            <a:off x="457200" y="3905250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C73E4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73E4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F5A535-95D9-4034-AA27-6E4CC95B3D8A}"/>
              </a:ext>
            </a:extLst>
          </p:cNvPr>
          <p:cNvSpPr>
            <a:spLocks noGrp="1"/>
          </p:cNvSpPr>
          <p:nvPr/>
        </p:nvSpPr>
        <p:spPr>
          <a:xfrm>
            <a:off x="952500" y="3867150"/>
            <a:ext cx="4476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Specialists run sequentially, increasing end-to-end latency.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58DF8A-4106-4229-B8C5-CC173445D523}"/>
              </a:ext>
            </a:extLst>
          </p:cNvPr>
          <p:cNvSpPr>
            <a:spLocks noGrp="1"/>
          </p:cNvSpPr>
          <p:nvPr/>
        </p:nvSpPr>
        <p:spPr>
          <a:xfrm>
            <a:off x="6324600" y="14287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F7A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F7A4D"/>
                </a:solidFill>
                <a:latin typeface="Arial"/>
                <a:ea typeface="Arial"/>
                <a:cs typeface="Arial"/>
              </a:rPr>
              <a:t>PRACTICAL ROADMAP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733CDF-D2F1-4894-9354-EC5A99E37E59}"/>
              </a:ext>
            </a:extLst>
          </p:cNvPr>
          <p:cNvSpPr>
            <a:spLocks noGrp="1"/>
          </p:cNvSpPr>
          <p:nvPr/>
        </p:nvSpPr>
        <p:spPr>
          <a:xfrm>
            <a:off x="6324600" y="19050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F7A4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F7A4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BFD07A-5A96-4CA0-B8E2-3A4DC6E03E5D}"/>
              </a:ext>
            </a:extLst>
          </p:cNvPr>
          <p:cNvSpPr>
            <a:spLocks noGrp="1"/>
          </p:cNvSpPr>
          <p:nvPr/>
        </p:nvSpPr>
        <p:spPr>
          <a:xfrm>
            <a:off x="6838950" y="186690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PDF / DOCX + Arabic ingestion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9DA052-3B04-4F8A-9665-339D9EDD955B}"/>
              </a:ext>
            </a:extLst>
          </p:cNvPr>
          <p:cNvSpPr>
            <a:spLocks noGrp="1"/>
          </p:cNvSpPr>
          <p:nvPr/>
        </p:nvSpPr>
        <p:spPr>
          <a:xfrm>
            <a:off x="6324600" y="2400300"/>
            <a:ext cx="49911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0016BE-A04E-4A4A-AF62-7BE03CD3A048}"/>
              </a:ext>
            </a:extLst>
          </p:cNvPr>
          <p:cNvSpPr>
            <a:spLocks noGrp="1"/>
          </p:cNvSpPr>
          <p:nvPr/>
        </p:nvSpPr>
        <p:spPr>
          <a:xfrm>
            <a:off x="6324600" y="26860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F7A4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F7A4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6DA6FC-9814-4198-86D7-A259B6944A36}"/>
              </a:ext>
            </a:extLst>
          </p:cNvPr>
          <p:cNvSpPr>
            <a:spLocks noGrp="1"/>
          </p:cNvSpPr>
          <p:nvPr/>
        </p:nvSpPr>
        <p:spPr>
          <a:xfrm>
            <a:off x="6838950" y="264795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Human review checkpoints before finalization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3055B4-F21E-40D3-86FF-71EE97F331E6}"/>
              </a:ext>
            </a:extLst>
          </p:cNvPr>
          <p:cNvSpPr>
            <a:spLocks noGrp="1"/>
          </p:cNvSpPr>
          <p:nvPr/>
        </p:nvSpPr>
        <p:spPr>
          <a:xfrm>
            <a:off x="6324600" y="3181350"/>
            <a:ext cx="49911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06A2FA-ED34-4A95-8FA4-E222D12494B0}"/>
              </a:ext>
            </a:extLst>
          </p:cNvPr>
          <p:cNvSpPr>
            <a:spLocks noGrp="1"/>
          </p:cNvSpPr>
          <p:nvPr/>
        </p:nvSpPr>
        <p:spPr>
          <a:xfrm>
            <a:off x="6324600" y="34671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F7A4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F7A4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B5FC84-F53C-4994-ADBA-76900EE0451F}"/>
              </a:ext>
            </a:extLst>
          </p:cNvPr>
          <p:cNvSpPr>
            <a:spLocks noGrp="1"/>
          </p:cNvSpPr>
          <p:nvPr/>
        </p:nvSpPr>
        <p:spPr>
          <a:xfrm>
            <a:off x="6838950" y="342900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Parallel per-supplier evidence audits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A86A29-6CE1-4926-8F1A-BBE74EB86EE0}"/>
              </a:ext>
            </a:extLst>
          </p:cNvPr>
          <p:cNvSpPr>
            <a:spLocks noGrp="1"/>
          </p:cNvSpPr>
          <p:nvPr/>
        </p:nvSpPr>
        <p:spPr>
          <a:xfrm>
            <a:off x="6324600" y="3962400"/>
            <a:ext cx="4991100" cy="9525"/>
          </a:xfrm>
          <a:prstGeom prst="rect">
            <a:avLst/>
          </a:prstGeom>
          <a:solidFill>
            <a:srgbClr val="D0D5DD"/>
          </a:solidFill>
          <a:ln w="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2915FA-D67C-4A38-A669-2B006E89BB19}"/>
              </a:ext>
            </a:extLst>
          </p:cNvPr>
          <p:cNvSpPr>
            <a:spLocks noGrp="1"/>
          </p:cNvSpPr>
          <p:nvPr/>
        </p:nvSpPr>
        <p:spPr>
          <a:xfrm>
            <a:off x="6324600" y="42481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F7A4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F7A4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7B1153-A9FE-4878-A9DA-5B92BD6FDF5D}"/>
              </a:ext>
            </a:extLst>
          </p:cNvPr>
          <p:cNvSpPr>
            <a:spLocks noGrp="1"/>
          </p:cNvSpPr>
          <p:nvPr/>
        </p:nvSpPr>
        <p:spPr>
          <a:xfrm>
            <a:off x="6838950" y="421005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Golden-case evaluation harness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B96DBB1-C7A2-4C0C-8893-0BAE4A9ADA49}"/>
              </a:ext>
            </a:extLst>
          </p:cNvPr>
          <p:cNvSpPr>
            <a:spLocks noGrp="1"/>
          </p:cNvSpPr>
          <p:nvPr/>
        </p:nvSpPr>
        <p:spPr>
          <a:xfrm>
            <a:off x="438150" y="5276850"/>
            <a:ext cx="11315700" cy="83820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D98B6E9-E45D-44DF-8AF4-0D2CFD0F45DB}"/>
              </a:ext>
            </a:extLst>
          </p:cNvPr>
          <p:cNvSpPr>
            <a:spLocks noGrp="1"/>
          </p:cNvSpPr>
          <p:nvPr/>
        </p:nvSpPr>
        <p:spPr>
          <a:xfrm>
            <a:off x="685800" y="5448300"/>
            <a:ext cx="10820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Accelerate the first pass. Keep the award decision human.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7848B0-4B89-49D7-A0CE-0221D6CCA571}"/>
              </a:ext>
            </a:extLst>
          </p:cNvPr>
          <p:cNvSpPr>
            <a:spLocks noGrp="1"/>
          </p:cNvSpPr>
          <p:nvPr/>
        </p:nvSpPr>
        <p:spPr>
          <a:xfrm>
            <a:off x="457200" y="632460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github.com/AlwaleedAlkhdairi/tender-compliance-agent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E207227-2637-4F9B-BD4C-F8BA14F1A9FE}"/>
              </a:ext>
            </a:extLst>
          </p:cNvPr>
          <p:cNvSpPr>
            <a:spLocks noGrp="1"/>
          </p:cNvSpPr>
          <p:nvPr/>
        </p:nvSpPr>
        <p:spPr>
          <a:xfrm>
            <a:off x="8477250" y="63246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Group 5 · SDAIA Academy</a:t>
            </a:r>
          </a:p>
        </p:txBody>
      </p:sp>
    </p:spTree>
    <p:extLst>
      <p:ext uri="{BB962C8B-B14F-4D97-AF65-F5344CB8AC3E}">
        <p14:creationId xmlns:p14="http://schemas.microsoft.com/office/powerpoint/2010/main" val="17279742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1821</Words>
  <Application>Microsoft Office PowerPoint</Application>
  <DocSecurity>0</DocSecurity>
  <PresentationFormat>Widescreen</PresentationFormat>
  <Paragraphs>235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الوليد الخضيري - Alwaleed Alkhdairi</cp:lastModifiedBy>
  <cp:revision>1</cp:revision>
  <dcterms:created xsi:type="dcterms:W3CDTF">2026-08-27T08:46:29Z</dcterms:created>
  <dcterms:modified xsi:type="dcterms:W3CDTF">2026-08-27T08:54:22Z</dcterms:modified>
</cp:coreProperties>
</file>